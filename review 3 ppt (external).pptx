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sldIdLst>
    <p:sldId id="256" r:id="rId2"/>
    <p:sldId id="271" r:id="rId3"/>
    <p:sldId id="285" r:id="rId4"/>
    <p:sldId id="259" r:id="rId5"/>
    <p:sldId id="286" r:id="rId6"/>
    <p:sldId id="263" r:id="rId7"/>
    <p:sldId id="287" r:id="rId8"/>
    <p:sldId id="288" r:id="rId9"/>
    <p:sldId id="289" r:id="rId10"/>
    <p:sldId id="290" r:id="rId11"/>
    <p:sldId id="282" r:id="rId12"/>
    <p:sldId id="291" r:id="rId13"/>
    <p:sldId id="267" r:id="rId14"/>
    <p:sldId id="268" r:id="rId15"/>
    <p:sldId id="276" r:id="rId16"/>
    <p:sldId id="293" r:id="rId17"/>
    <p:sldId id="294" r:id="rId18"/>
    <p:sldId id="296" r:id="rId19"/>
    <p:sldId id="29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oever" initials="w" lastIdx="1" clrIdx="0">
    <p:extLst>
      <p:ext uri="{19B8F6BF-5375-455C-9EA6-DF929625EA0E}">
        <p15:presenceInfo xmlns:p15="http://schemas.microsoft.com/office/powerpoint/2012/main" userId="whoev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09" autoAdjust="0"/>
    <p:restoredTop sz="94660"/>
  </p:normalViewPr>
  <p:slideViewPr>
    <p:cSldViewPr snapToGrid="0">
      <p:cViewPr varScale="1">
        <p:scale>
          <a:sx n="82" d="100"/>
          <a:sy n="82" d="100"/>
        </p:scale>
        <p:origin x="384" y="72"/>
      </p:cViewPr>
      <p:guideLst/>
    </p:cSldViewPr>
  </p:slideViewPr>
  <p:notesTextViewPr>
    <p:cViewPr>
      <p:scale>
        <a:sx n="1" d="1"/>
        <a:sy n="1" d="1"/>
      </p:scale>
      <p:origin x="0" y="0"/>
    </p:cViewPr>
  </p:notesTextViewPr>
  <p:notesViewPr>
    <p:cSldViewPr snapToGrid="0">
      <p:cViewPr varScale="1">
        <p:scale>
          <a:sx n="57" d="100"/>
          <a:sy n="57" d="100"/>
        </p:scale>
        <p:origin x="2560"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06490A-2B5A-4A78-88B4-B9069912938D}" type="datetimeFigureOut">
              <a:rPr lang="en-IN" smtClean="0"/>
              <a:t>11-03-2026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DC21B1-72C9-48EC-AE48-8F81FCB3CC8F}" type="slidenum">
              <a:rPr lang="en-IN" smtClean="0"/>
              <a:t>‹#›</a:t>
            </a:fld>
            <a:endParaRPr lang="en-IN"/>
          </a:p>
        </p:txBody>
      </p:sp>
    </p:spTree>
    <p:extLst>
      <p:ext uri="{BB962C8B-B14F-4D97-AF65-F5344CB8AC3E}">
        <p14:creationId xmlns:p14="http://schemas.microsoft.com/office/powerpoint/2010/main" val="1330992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2DC21B1-72C9-48EC-AE48-8F81FCB3CC8F}" type="slidenum">
              <a:rPr lang="en-IN" smtClean="0"/>
              <a:t>13</a:t>
            </a:fld>
            <a:endParaRPr lang="en-IN"/>
          </a:p>
        </p:txBody>
      </p:sp>
    </p:spTree>
    <p:extLst>
      <p:ext uri="{BB962C8B-B14F-4D97-AF65-F5344CB8AC3E}">
        <p14:creationId xmlns:p14="http://schemas.microsoft.com/office/powerpoint/2010/main" val="2693323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3/11/2026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3/11/2026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3/11/2026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3/11/2026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3/11/2026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3/11/2026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3/11/2026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3/11/2026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3/11/2026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3/11/2026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3/11/2026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3/11/2026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318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63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researchgate.net/scientific-contributions/Fabian-Joehren-2157076831" TargetMode="External"/><Relationship Id="rId2" Type="http://schemas.openxmlformats.org/officeDocument/2006/relationships/hyperlink" Target="https://www.researchgate.net/profile/Lucas-Baier" TargetMode="External"/><Relationship Id="rId1" Type="http://schemas.openxmlformats.org/officeDocument/2006/relationships/slideLayout" Target="../slideLayouts/slideLayout1.xml"/><Relationship Id="rId4" Type="http://schemas.openxmlformats.org/officeDocument/2006/relationships/hyperlink" Target="https://www.researchgate.net/profile/Stefan-Seebacher"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3506" y="857643"/>
            <a:ext cx="8991600" cy="1645920"/>
          </a:xfrm>
        </p:spPr>
        <p:txBody>
          <a:bodyPr/>
          <a:lstStyle/>
          <a:p>
            <a:r>
              <a:rPr lang="en-US" dirty="0"/>
              <a:t>Education and student performance using ai tools</a:t>
            </a:r>
            <a:endParaRPr lang="en-IN" dirty="0"/>
          </a:p>
        </p:txBody>
      </p:sp>
      <p:sp>
        <p:nvSpPr>
          <p:cNvPr id="3" name="Subtitle 2"/>
          <p:cNvSpPr>
            <a:spLocks noGrp="1"/>
          </p:cNvSpPr>
          <p:nvPr>
            <p:ph type="subTitle" idx="1"/>
          </p:nvPr>
        </p:nvSpPr>
        <p:spPr>
          <a:xfrm>
            <a:off x="3284376" y="2977295"/>
            <a:ext cx="5195394" cy="2634634"/>
          </a:xfrm>
        </p:spPr>
        <p:txBody>
          <a:bodyPr>
            <a:normAutofit/>
          </a:bodyPr>
          <a:lstStyle/>
          <a:p>
            <a:r>
              <a:rPr lang="en-US" b="1" u="sng" dirty="0">
                <a:solidFill>
                  <a:schemeClr val="tx1">
                    <a:lumMod val="95000"/>
                  </a:schemeClr>
                </a:solidFill>
              </a:rPr>
              <a:t>MENTOR:</a:t>
            </a:r>
            <a:r>
              <a:rPr lang="en-US" dirty="0">
                <a:solidFill>
                  <a:schemeClr val="tx1">
                    <a:lumMod val="95000"/>
                  </a:schemeClr>
                </a:solidFill>
              </a:rPr>
              <a:t> Dr N. Shirisha</a:t>
            </a:r>
            <a:r>
              <a:rPr lang="en-IN" altLang="en-US" dirty="0">
                <a:solidFill>
                  <a:schemeClr val="tx1">
                    <a:lumMod val="95000"/>
                  </a:schemeClr>
                </a:solidFill>
              </a:rPr>
              <a:t>,  </a:t>
            </a:r>
            <a:r>
              <a:rPr lang="en-IN" altLang="en-US" dirty="0" err="1">
                <a:solidFill>
                  <a:schemeClr val="tx1">
                    <a:lumMod val="95000"/>
                  </a:schemeClr>
                </a:solidFill>
              </a:rPr>
              <a:t>Assoc.Prof</a:t>
            </a:r>
            <a:r>
              <a:rPr lang="en-IN" altLang="en-US" dirty="0">
                <a:solidFill>
                  <a:schemeClr val="tx1">
                    <a:lumMod val="95000"/>
                  </a:schemeClr>
                </a:solidFill>
              </a:rPr>
              <a:t>.</a:t>
            </a:r>
            <a:endParaRPr lang="en-US" dirty="0">
              <a:solidFill>
                <a:schemeClr val="tx1">
                  <a:lumMod val="95000"/>
                </a:schemeClr>
              </a:solidFill>
            </a:endParaRPr>
          </a:p>
          <a:p>
            <a:r>
              <a:rPr lang="en-US" b="1" u="sng" dirty="0">
                <a:solidFill>
                  <a:schemeClr val="tx1">
                    <a:lumMod val="95000"/>
                  </a:schemeClr>
                </a:solidFill>
              </a:rPr>
              <a:t>BATCH NO:</a:t>
            </a:r>
            <a:r>
              <a:rPr lang="en-US" b="1" dirty="0">
                <a:solidFill>
                  <a:schemeClr val="tx1">
                    <a:lumMod val="95000"/>
                  </a:schemeClr>
                </a:solidFill>
              </a:rPr>
              <a:t> 15</a:t>
            </a:r>
            <a:endParaRPr lang="en-US" dirty="0">
              <a:solidFill>
                <a:schemeClr val="tx1">
                  <a:lumMod val="95000"/>
                </a:schemeClr>
              </a:solidFill>
            </a:endParaRPr>
          </a:p>
          <a:p>
            <a:r>
              <a:rPr lang="en-US" b="1" u="sng" dirty="0">
                <a:solidFill>
                  <a:schemeClr val="tx1">
                    <a:lumMod val="95000"/>
                  </a:schemeClr>
                </a:solidFill>
              </a:rPr>
              <a:t>TEAM MEMBERS:</a:t>
            </a:r>
          </a:p>
          <a:p>
            <a:r>
              <a:rPr lang="en-US" dirty="0">
                <a:solidFill>
                  <a:schemeClr val="tx1">
                    <a:lumMod val="95000"/>
                  </a:schemeClr>
                </a:solidFill>
              </a:rPr>
              <a:t>2320030041 – </a:t>
            </a:r>
            <a:r>
              <a:rPr lang="en-US" dirty="0" err="1">
                <a:solidFill>
                  <a:schemeClr val="tx1">
                    <a:lumMod val="95000"/>
                  </a:schemeClr>
                </a:solidFill>
              </a:rPr>
              <a:t>u.chandrahas</a:t>
            </a:r>
            <a:endParaRPr lang="en-US" dirty="0">
              <a:solidFill>
                <a:schemeClr val="tx1">
                  <a:lumMod val="95000"/>
                </a:schemeClr>
              </a:solidFill>
            </a:endParaRPr>
          </a:p>
          <a:p>
            <a:r>
              <a:rPr lang="en-US" dirty="0">
                <a:solidFill>
                  <a:schemeClr val="tx1">
                    <a:lumMod val="95000"/>
                  </a:schemeClr>
                </a:solidFill>
              </a:rPr>
              <a:t>2320090047– </a:t>
            </a:r>
            <a:r>
              <a:rPr lang="en-US" dirty="0" err="1">
                <a:solidFill>
                  <a:schemeClr val="tx1">
                    <a:lumMod val="95000"/>
                  </a:schemeClr>
                </a:solidFill>
              </a:rPr>
              <a:t>d.nagarujuna</a:t>
            </a:r>
            <a:endParaRPr lang="en-US" dirty="0">
              <a:solidFill>
                <a:schemeClr val="tx1">
                  <a:lumMod val="95000"/>
                </a:schemeClr>
              </a:solidFill>
            </a:endParaRPr>
          </a:p>
          <a:p>
            <a:r>
              <a:rPr lang="en-US" dirty="0">
                <a:solidFill>
                  <a:schemeClr val="tx1">
                    <a:lumMod val="95000"/>
                  </a:schemeClr>
                </a:solidFill>
              </a:rPr>
              <a:t>2320030226 – </a:t>
            </a:r>
            <a:r>
              <a:rPr lang="en-US" dirty="0" err="1">
                <a:solidFill>
                  <a:schemeClr val="tx1">
                    <a:lumMod val="95000"/>
                  </a:schemeClr>
                </a:solidFill>
              </a:rPr>
              <a:t>s.pardhu</a:t>
            </a:r>
            <a:endParaRPr lang="en-US" dirty="0">
              <a:solidFill>
                <a:schemeClr val="tx1">
                  <a:lumMod val="95000"/>
                </a:schemeClr>
              </a:solidFill>
            </a:endParaRPr>
          </a:p>
          <a:p>
            <a:endParaRPr lang="en-IN" dirty="0"/>
          </a:p>
        </p:txBody>
      </p:sp>
      <p:sp>
        <p:nvSpPr>
          <p:cNvPr id="4" name="Text Box 3"/>
          <p:cNvSpPr txBox="1"/>
          <p:nvPr/>
        </p:nvSpPr>
        <p:spPr>
          <a:xfrm>
            <a:off x="7329805" y="3035300"/>
            <a:ext cx="309880" cy="368300"/>
          </a:xfrm>
          <a:prstGeom prst="rect">
            <a:avLst/>
          </a:prstGeom>
          <a:noFill/>
        </p:spPr>
        <p:txBody>
          <a:bodyPr wrap="none" rtlCol="0">
            <a:spAutoFit/>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3948" y="1093617"/>
            <a:ext cx="9724103" cy="912163"/>
          </a:xfrm>
        </p:spPr>
        <p:txBody>
          <a:bodyPr>
            <a:normAutofit/>
          </a:bodyPr>
          <a:lstStyle/>
          <a:p>
            <a:r>
              <a:rPr lang="en-US" dirty="0"/>
              <a:t>Table of contents</a:t>
            </a:r>
            <a:endParaRPr lang="en-IN" dirty="0"/>
          </a:p>
        </p:txBody>
      </p:sp>
      <p:sp>
        <p:nvSpPr>
          <p:cNvPr id="3" name="Subtitle 2"/>
          <p:cNvSpPr>
            <a:spLocks noGrp="1"/>
          </p:cNvSpPr>
          <p:nvPr>
            <p:ph type="subTitle" idx="1"/>
          </p:nvPr>
        </p:nvSpPr>
        <p:spPr>
          <a:xfrm>
            <a:off x="1233948" y="2269067"/>
            <a:ext cx="8021813" cy="4233333"/>
          </a:xfrm>
        </p:spPr>
        <p:txBody>
          <a:bodyPr>
            <a:normAutofit fontScale="92500" lnSpcReduction="20000"/>
          </a:bodyPr>
          <a:lstStyle/>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ABSTRACT</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INTRODUCTION</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EXISTING SYSTEM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PROPOSED SYSTEM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OBJECTIVES</a:t>
            </a:r>
            <a:endParaRPr lang="en-US"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LITERATURE SURVEY</a:t>
            </a: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SOFTWARE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HARDWARE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FUNCTIONAL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NON – FUNCTIONAL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SYSTEM ARCHITECTURE</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UML DIAGRAM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ACTIVITY DIAGRAM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MODULE DESIGN</a:t>
            </a: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2200" b="1" dirty="0">
              <a:solidFill>
                <a:schemeClr val="accent6">
                  <a:lumMod val="50000"/>
                </a:schemeClr>
              </a:solidFill>
              <a:latin typeface="Times New Roman" panose="02020603050405020304" pitchFamily="18" charset="0"/>
              <a:cs typeface="Times New Roman" panose="02020603050405020304" pitchFamily="18" charset="0"/>
            </a:endParaRPr>
          </a:p>
          <a:p>
            <a:pPr marL="342900" indent="-342900" algn="l">
              <a:buClrTx/>
              <a:buFont typeface="Wingdings" panose="05000000000000000000" pitchFamily="2" charset="2"/>
              <a:buChar char="§"/>
            </a:pPr>
            <a:endParaRPr lang="en-IN" dirty="0">
              <a:solidFill>
                <a:schemeClr val="accent6">
                  <a:lumMod val="50000"/>
                </a:schemeClr>
              </a:solidFill>
            </a:endParaRPr>
          </a:p>
          <a:p>
            <a:pPr marL="342900" indent="-342900" algn="l">
              <a:buClrTx/>
              <a:buFont typeface="Wingdings" panose="05000000000000000000" pitchFamily="2" charset="2"/>
              <a:buChar char="§"/>
            </a:pPr>
            <a:endParaRPr lang="en-IN" dirty="0">
              <a:solidFill>
                <a:schemeClr val="accent6">
                  <a:lumMod val="50000"/>
                </a:schemeClr>
              </a:solidFill>
            </a:endParaRPr>
          </a:p>
        </p:txBody>
      </p:sp>
    </p:spTree>
    <p:extLst>
      <p:ext uri="{BB962C8B-B14F-4D97-AF65-F5344CB8AC3E}">
        <p14:creationId xmlns:p14="http://schemas.microsoft.com/office/powerpoint/2010/main" val="4214619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D18D3-8A6B-71F7-8E6D-6E17F8CBA0C1}"/>
              </a:ext>
            </a:extLst>
          </p:cNvPr>
          <p:cNvSpPr>
            <a:spLocks noGrp="1"/>
          </p:cNvSpPr>
          <p:nvPr>
            <p:ph type="ctrTitle"/>
          </p:nvPr>
        </p:nvSpPr>
        <p:spPr>
          <a:xfrm>
            <a:off x="1600200" y="442602"/>
            <a:ext cx="8991600" cy="1645920"/>
          </a:xfrm>
        </p:spPr>
        <p:txBody>
          <a:bodyPr>
            <a:normAutofit/>
          </a:bodyPr>
          <a:lstStyle/>
          <a:p>
            <a:r>
              <a:rPr lang="en-IN" sz="3200" dirty="0"/>
              <a:t>Review – 2 comments addressed</a:t>
            </a:r>
          </a:p>
        </p:txBody>
      </p:sp>
      <p:sp>
        <p:nvSpPr>
          <p:cNvPr id="3" name="Subtitle 2">
            <a:extLst>
              <a:ext uri="{FF2B5EF4-FFF2-40B4-BE49-F238E27FC236}">
                <a16:creationId xmlns:a16="http://schemas.microsoft.com/office/drawing/2014/main" id="{38175D99-3C6A-252F-1670-A6E945C244BF}"/>
              </a:ext>
            </a:extLst>
          </p:cNvPr>
          <p:cNvSpPr>
            <a:spLocks noGrp="1"/>
          </p:cNvSpPr>
          <p:nvPr>
            <p:ph type="subTitle" idx="1"/>
          </p:nvPr>
        </p:nvSpPr>
        <p:spPr>
          <a:xfrm>
            <a:off x="1500996" y="3278038"/>
            <a:ext cx="9178506" cy="2314400"/>
          </a:xfrm>
        </p:spPr>
        <p:txBody>
          <a:bodyPr>
            <a:normAutofit/>
          </a:bodyPr>
          <a:lstStyle/>
          <a:p>
            <a:r>
              <a:rPr lang="en-IN" sz="2800" dirty="0"/>
              <a:t>1.Modules of the project need to analyse</a:t>
            </a:r>
          </a:p>
          <a:p>
            <a:r>
              <a:rPr lang="en-IN" sz="2800" dirty="0"/>
              <a:t>2.Tools /Requirements gather</a:t>
            </a:r>
          </a:p>
        </p:txBody>
      </p:sp>
    </p:spTree>
    <p:extLst>
      <p:ext uri="{BB962C8B-B14F-4D97-AF65-F5344CB8AC3E}">
        <p14:creationId xmlns:p14="http://schemas.microsoft.com/office/powerpoint/2010/main" val="1426245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endParaRPr lang="en-IN" dirty="0"/>
          </a:p>
        </p:txBody>
      </p:sp>
      <p:sp>
        <p:nvSpPr>
          <p:cNvPr id="5" name="Title 1"/>
          <p:cNvSpPr>
            <a:spLocks noGrp="1"/>
          </p:cNvSpPr>
          <p:nvPr>
            <p:ph idx="1"/>
          </p:nvPr>
        </p:nvSpPr>
        <p:spPr>
          <a:xfrm>
            <a:off x="6322142" y="218767"/>
            <a:ext cx="5692877" cy="6420465"/>
          </a:xfrm>
          <a:noFill/>
          <a:ln w="38100">
            <a:solidFill>
              <a:srgbClr val="404040">
                <a:alpha val="57000"/>
              </a:srgbClr>
            </a:solidFill>
          </a:ln>
        </p:spPr>
        <p:txBody>
          <a:bodyPr>
            <a:normAutofit fontScale="92500" lnSpcReduction="20000"/>
          </a:bodyPr>
          <a:lstStyle/>
          <a:p>
            <a:pPr marL="0" indent="0">
              <a:buNone/>
            </a:pPr>
            <a:r>
              <a:rPr lang="en-US" dirty="0"/>
              <a:t>Education and student performance is a core function of modern academic engineering, providing a set of best practices for maintaining high student success rates in real-world educational environments. Generally, after a considerable period, student engagement and academic performance can degrade when exposed to increasing workload or poor attendance patterns. Traditional management systems cannot always handle the complexity of identifying these subtle decay patterns. Our project focuses on this disadvantage by continuously monitoring and analyzing student metrics through an automated lifecycle pipeline. This is achieved by using a high-performance stack comprising a </a:t>
            </a:r>
            <a:r>
              <a:rPr lang="en-US" b="1" dirty="0"/>
              <a:t>Flask</a:t>
            </a:r>
            <a:r>
              <a:rPr lang="en-US" dirty="0"/>
              <a:t> backend for real-time delivery and </a:t>
            </a:r>
            <a:r>
              <a:rPr lang="en-US" b="1" dirty="0"/>
              <a:t>Apache Spark</a:t>
            </a:r>
            <a:r>
              <a:rPr lang="en-US" dirty="0"/>
              <a:t> for large-scale data processing. We deploy this system to integrate academic performance data into a centralized environment that can take in raw records as an input and return actionable outputs, such as "Burnout Risk" and "Placement Eligibility," used in making practical mentoring decisions. When new data is provided as input, the system automatically updates the stress and risk indices without disturbing the underlying database architecture. This ensures that the identification of at-risk students remains accurate and interventions can be deployed with fewer errors i.e., student outcomes will not be degraded. Our main goal is a robust and efficient monitoring, maintenance, and optimization of student performance and well-being systems in production.</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41096-BD79-8031-FD5E-BBB09CEAB30D}"/>
              </a:ext>
            </a:extLst>
          </p:cNvPr>
          <p:cNvSpPr>
            <a:spLocks noGrp="1"/>
          </p:cNvSpPr>
          <p:nvPr>
            <p:ph type="ctrTitle"/>
          </p:nvPr>
        </p:nvSpPr>
        <p:spPr>
          <a:xfrm>
            <a:off x="1384539" y="442602"/>
            <a:ext cx="8991600" cy="1403451"/>
          </a:xfrm>
        </p:spPr>
        <p:txBody>
          <a:bodyPr/>
          <a:lstStyle/>
          <a:p>
            <a:r>
              <a:rPr lang="en-IN" dirty="0"/>
              <a:t>Introduction</a:t>
            </a:r>
          </a:p>
        </p:txBody>
      </p:sp>
      <p:sp>
        <p:nvSpPr>
          <p:cNvPr id="3" name="Subtitle 2">
            <a:extLst>
              <a:ext uri="{FF2B5EF4-FFF2-40B4-BE49-F238E27FC236}">
                <a16:creationId xmlns:a16="http://schemas.microsoft.com/office/drawing/2014/main" id="{B7BCB5CD-F662-7491-D24A-0DACB0CFC041}"/>
              </a:ext>
            </a:extLst>
          </p:cNvPr>
          <p:cNvSpPr>
            <a:spLocks noGrp="1"/>
          </p:cNvSpPr>
          <p:nvPr>
            <p:ph type="subTitle" idx="1"/>
          </p:nvPr>
        </p:nvSpPr>
        <p:spPr>
          <a:xfrm>
            <a:off x="1319841" y="2302933"/>
            <a:ext cx="9382371" cy="3726931"/>
          </a:xfrm>
        </p:spPr>
        <p:txBody>
          <a:bodyPr>
            <a:normAutofit fontScale="85000" lnSpcReduction="20000"/>
          </a:bodyPr>
          <a:lstStyle/>
          <a:p>
            <a:pPr algn="l"/>
            <a:r>
              <a:rPr lang="en-US" b="1" dirty="0">
                <a:solidFill>
                  <a:schemeClr val="bg1"/>
                </a:solidFill>
              </a:rPr>
              <a:t>Student Education Performance Dashboard</a:t>
            </a:r>
            <a:r>
              <a:rPr lang="en-US" dirty="0">
                <a:solidFill>
                  <a:schemeClr val="bg1"/>
                </a:solidFill>
              </a:rPr>
              <a:t> – The Student Dashboard is an intelligent analytics platform that aims to monitor, analyze, and manage student academic </a:t>
            </a:r>
          </a:p>
          <a:p>
            <a:pPr algn="l"/>
            <a:r>
              <a:rPr lang="en-US" b="1" dirty="0">
                <a:solidFill>
                  <a:schemeClr val="bg1"/>
                </a:solidFill>
              </a:rPr>
              <a:t>Data Analytics Pipeline</a:t>
            </a:r>
            <a:r>
              <a:rPr lang="en-US" dirty="0">
                <a:solidFill>
                  <a:schemeClr val="bg1"/>
                </a:solidFill>
              </a:rPr>
              <a:t> – It automates the educational data workflow by pulling raw student records Into an analytics engine (like Apache Spark) </a:t>
            </a:r>
          </a:p>
          <a:p>
            <a:pPr algn="l"/>
            <a:r>
              <a:rPr lang="en-US" b="1" dirty="0">
                <a:solidFill>
                  <a:schemeClr val="bg1"/>
                </a:solidFill>
              </a:rPr>
              <a:t>The Student Dashboard is used for:</a:t>
            </a:r>
            <a:endParaRPr lang="en-US" dirty="0">
              <a:solidFill>
                <a:schemeClr val="bg1"/>
              </a:solidFill>
            </a:endParaRPr>
          </a:p>
          <a:p>
            <a:pPr algn="l"/>
            <a:r>
              <a:rPr lang="en-US" dirty="0">
                <a:solidFill>
                  <a:schemeClr val="bg1"/>
                </a:solidFill>
              </a:rPr>
              <a:t>.Real-time Monitoring</a:t>
            </a:r>
          </a:p>
          <a:p>
            <a:pPr algn="l"/>
            <a:r>
              <a:rPr lang="en-US" dirty="0">
                <a:solidFill>
                  <a:schemeClr val="bg1"/>
                </a:solidFill>
              </a:rPr>
              <a:t>.Track Academic performance</a:t>
            </a:r>
          </a:p>
          <a:p>
            <a:pPr algn="l"/>
            <a:r>
              <a:rPr lang="en-US" dirty="0">
                <a:solidFill>
                  <a:schemeClr val="bg1"/>
                </a:solidFill>
              </a:rPr>
              <a:t>.Centralize Student Records</a:t>
            </a:r>
          </a:p>
          <a:p>
            <a:pPr algn="l"/>
            <a:r>
              <a:rPr lang="en-US" dirty="0">
                <a:solidFill>
                  <a:schemeClr val="bg1"/>
                </a:solidFill>
              </a:rPr>
              <a:t>.identifies early signs of academic burnout</a:t>
            </a:r>
          </a:p>
          <a:p>
            <a:pPr algn="l"/>
            <a:r>
              <a:rPr lang="en-US" dirty="0">
                <a:solidFill>
                  <a:schemeClr val="bg1"/>
                </a:solidFill>
              </a:rPr>
              <a:t>.Automating document generation</a:t>
            </a:r>
          </a:p>
          <a:p>
            <a:pPr algn="l"/>
            <a:r>
              <a:rPr lang="en-US" dirty="0">
                <a:solidFill>
                  <a:schemeClr val="bg1"/>
                </a:solidFill>
              </a:rPr>
              <a:t>.Departmental Analysis</a:t>
            </a:r>
          </a:p>
          <a:p>
            <a:pPr algn="l"/>
            <a:r>
              <a:rPr lang="en-US" dirty="0">
                <a:solidFill>
                  <a:schemeClr val="bg1"/>
                </a:solidFill>
              </a:rPr>
              <a:t>.Monitoring overall performance efficiently + automated reporting</a:t>
            </a:r>
          </a:p>
          <a:p>
            <a:pPr algn="l"/>
            <a:endParaRPr lang="en-IN" sz="1600" dirty="0">
              <a:solidFill>
                <a:schemeClr val="bg1"/>
              </a:solidFill>
            </a:endParaRPr>
          </a:p>
        </p:txBody>
      </p:sp>
    </p:spTree>
    <p:extLst>
      <p:ext uri="{BB962C8B-B14F-4D97-AF65-F5344CB8AC3E}">
        <p14:creationId xmlns:p14="http://schemas.microsoft.com/office/powerpoint/2010/main" val="4164469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0245" y="493849"/>
            <a:ext cx="7551173" cy="912163"/>
          </a:xfrm>
        </p:spPr>
        <p:txBody>
          <a:bodyPr>
            <a:normAutofit/>
          </a:bodyPr>
          <a:lstStyle/>
          <a:p>
            <a:r>
              <a:rPr lang="en-US" dirty="0"/>
              <a:t>Existing system</a:t>
            </a:r>
            <a:endParaRPr lang="en-IN" dirty="0"/>
          </a:p>
        </p:txBody>
      </p:sp>
      <p:sp>
        <p:nvSpPr>
          <p:cNvPr id="5" name="Subtitle 4"/>
          <p:cNvSpPr>
            <a:spLocks noGrp="1"/>
          </p:cNvSpPr>
          <p:nvPr>
            <p:ph type="subTitle" idx="1"/>
          </p:nvPr>
        </p:nvSpPr>
        <p:spPr>
          <a:xfrm>
            <a:off x="233668" y="1731730"/>
            <a:ext cx="5584722" cy="4468962"/>
          </a:xfrm>
        </p:spPr>
        <p:txBody>
          <a:bodyPr>
            <a:normAutofit/>
          </a:bodyPr>
          <a:lstStyle/>
          <a:p>
            <a:pPr algn="l">
              <a:buClrTx/>
            </a:pPr>
            <a:r>
              <a:rPr lang="en-US" dirty="0">
                <a:solidFill>
                  <a:schemeClr val="bg1"/>
                </a:solidFill>
              </a:rPr>
              <a:t>Considering the Student Education Performance Environment:</a:t>
            </a:r>
          </a:p>
          <a:p>
            <a:pPr algn="l">
              <a:buClrTx/>
            </a:pPr>
            <a:r>
              <a:rPr lang="en-US" sz="1800" dirty="0">
                <a:solidFill>
                  <a:schemeClr val="bg1"/>
                </a:solidFill>
              </a:rPr>
              <a:t>Teachers manually check attendance records (like looking at registers or spreadsheets). They depend on reports from individual teachers about how students are doing. Action is taken only after students fail exams, instead of helping them earlier.</a:t>
            </a:r>
          </a:p>
          <a:p>
            <a:pPr algn="l">
              <a:buClrTx/>
            </a:pPr>
            <a:r>
              <a:rPr lang="en-US" dirty="0">
                <a:solidFill>
                  <a:schemeClr val="bg1"/>
                </a:solidFill>
              </a:rPr>
              <a:t>Because of this delayed manual tracking, action is taken only after students fail their exams instead of identifying the warning signs and helping them earlier.</a:t>
            </a:r>
          </a:p>
          <a:p>
            <a:pPr algn="l">
              <a:buClrTx/>
            </a:pPr>
            <a:endParaRPr lang="en-US" sz="1800" dirty="0">
              <a:solidFill>
                <a:schemeClr val="bg1"/>
              </a:solidFill>
            </a:endParaRPr>
          </a:p>
          <a:p>
            <a:pPr algn="l">
              <a:buClrTx/>
            </a:pPr>
            <a:endParaRPr lang="en-US" dirty="0">
              <a:solidFill>
                <a:schemeClr val="bg1"/>
              </a:solidFill>
            </a:endParaRPr>
          </a:p>
          <a:p>
            <a:pPr algn="l">
              <a:buClrTx/>
            </a:pPr>
            <a:endParaRPr lang="en-US" dirty="0">
              <a:solidFill>
                <a:schemeClr val="bg1"/>
              </a:solidFill>
            </a:endParaRPr>
          </a:p>
        </p:txBody>
      </p:sp>
      <p:pic>
        <p:nvPicPr>
          <p:cNvPr id="9" name="Picture 8">
            <a:extLst>
              <a:ext uri="{FF2B5EF4-FFF2-40B4-BE49-F238E27FC236}">
                <a16:creationId xmlns:a16="http://schemas.microsoft.com/office/drawing/2014/main" id="{3C4BA693-CE09-9122-2F8A-999BDA74F6D3}"/>
              </a:ext>
            </a:extLst>
          </p:cNvPr>
          <p:cNvPicPr>
            <a:picLocks noChangeAspect="1"/>
          </p:cNvPicPr>
          <p:nvPr/>
        </p:nvPicPr>
        <p:blipFill>
          <a:blip r:embed="rId2"/>
          <a:stretch>
            <a:fillRect/>
          </a:stretch>
        </p:blipFill>
        <p:spPr>
          <a:xfrm>
            <a:off x="6715960" y="1731730"/>
            <a:ext cx="4536757" cy="39972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E4E86-3711-92D3-C228-F7B51ED7B5C5}"/>
              </a:ext>
            </a:extLst>
          </p:cNvPr>
          <p:cNvSpPr>
            <a:spLocks noGrp="1"/>
          </p:cNvSpPr>
          <p:nvPr>
            <p:ph type="ctrTitle"/>
          </p:nvPr>
        </p:nvSpPr>
        <p:spPr>
          <a:xfrm>
            <a:off x="1306902" y="540691"/>
            <a:ext cx="8991600" cy="1305362"/>
          </a:xfrm>
        </p:spPr>
        <p:txBody>
          <a:bodyPr/>
          <a:lstStyle/>
          <a:p>
            <a:r>
              <a:rPr lang="en-IN" dirty="0"/>
              <a:t>Proposed system</a:t>
            </a:r>
          </a:p>
        </p:txBody>
      </p:sp>
      <p:sp>
        <p:nvSpPr>
          <p:cNvPr id="3" name="Subtitle 2">
            <a:extLst>
              <a:ext uri="{FF2B5EF4-FFF2-40B4-BE49-F238E27FC236}">
                <a16:creationId xmlns:a16="http://schemas.microsoft.com/office/drawing/2014/main" id="{E67D7107-F2E8-EF39-BF89-908B6F1E7C48}"/>
              </a:ext>
            </a:extLst>
          </p:cNvPr>
          <p:cNvSpPr>
            <a:spLocks noGrp="1"/>
          </p:cNvSpPr>
          <p:nvPr>
            <p:ph type="subTitle" idx="1"/>
          </p:nvPr>
        </p:nvSpPr>
        <p:spPr>
          <a:xfrm>
            <a:off x="1117599" y="2133600"/>
            <a:ext cx="9050867" cy="3911600"/>
          </a:xfrm>
        </p:spPr>
        <p:txBody>
          <a:bodyPr>
            <a:normAutofit/>
          </a:bodyPr>
          <a:lstStyle/>
          <a:p>
            <a:pPr algn="l"/>
            <a:r>
              <a:rPr lang="en-US" dirty="0">
                <a:solidFill>
                  <a:schemeClr val="bg1"/>
                </a:solidFill>
              </a:rPr>
              <a:t>Our goal is to build a robust and efficient platform for deploying, maintaining, and analyzing student educational performance data in real-time.</a:t>
            </a:r>
          </a:p>
          <a:p>
            <a:pPr algn="l"/>
            <a:r>
              <a:rPr lang="en-US" dirty="0">
                <a:solidFill>
                  <a:schemeClr val="bg1"/>
                </a:solidFill>
              </a:rPr>
              <a:t>The main purpose is to continuously track and monitor the academic trajectories of students across all departments.</a:t>
            </a:r>
          </a:p>
          <a:p>
            <a:pPr algn="l"/>
            <a:r>
              <a:rPr lang="en-US" dirty="0">
                <a:solidFill>
                  <a:schemeClr val="bg1"/>
                </a:solidFill>
              </a:rPr>
              <a:t>We are using Apache Spark to automate the complex data aggregation and calculation tasks.</a:t>
            </a:r>
          </a:p>
          <a:p>
            <a:pPr algn="l"/>
            <a:r>
              <a:rPr lang="en-US" dirty="0">
                <a:solidFill>
                  <a:schemeClr val="bg1"/>
                </a:solidFill>
              </a:rPr>
              <a:t>We deploy this automated pipeline alongside an interactive Dashboard using modern web technologies.</a:t>
            </a:r>
          </a:p>
          <a:p>
            <a:pPr algn="l"/>
            <a:r>
              <a:rPr lang="en-US" dirty="0">
                <a:solidFill>
                  <a:schemeClr val="bg1"/>
                </a:solidFill>
              </a:rPr>
              <a:t>The Dashboard helps educators improve intervention times, reduce academic failure rates, and make administrative decisions more productive.</a:t>
            </a:r>
          </a:p>
          <a:p>
            <a:endParaRPr lang="en-IN" dirty="0"/>
          </a:p>
        </p:txBody>
      </p:sp>
    </p:spTree>
    <p:extLst>
      <p:ext uri="{BB962C8B-B14F-4D97-AF65-F5344CB8AC3E}">
        <p14:creationId xmlns:p14="http://schemas.microsoft.com/office/powerpoint/2010/main" val="33211075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7F80C-B9DB-29BB-E52D-C17D80EB2337}"/>
              </a:ext>
            </a:extLst>
          </p:cNvPr>
          <p:cNvSpPr>
            <a:spLocks noGrp="1"/>
          </p:cNvSpPr>
          <p:nvPr>
            <p:ph type="ctrTitle"/>
          </p:nvPr>
        </p:nvSpPr>
        <p:spPr>
          <a:xfrm>
            <a:off x="1600200" y="416378"/>
            <a:ext cx="8991600" cy="1239894"/>
          </a:xfrm>
        </p:spPr>
        <p:txBody>
          <a:bodyPr/>
          <a:lstStyle/>
          <a:p>
            <a:r>
              <a:rPr lang="en-IN" dirty="0"/>
              <a:t>Objectives</a:t>
            </a:r>
          </a:p>
        </p:txBody>
      </p:sp>
      <p:sp>
        <p:nvSpPr>
          <p:cNvPr id="3" name="Subtitle 2">
            <a:extLst>
              <a:ext uri="{FF2B5EF4-FFF2-40B4-BE49-F238E27FC236}">
                <a16:creationId xmlns:a16="http://schemas.microsoft.com/office/drawing/2014/main" id="{C06C8BEA-80A6-F443-CAA6-C2DB3E6274CB}"/>
              </a:ext>
            </a:extLst>
          </p:cNvPr>
          <p:cNvSpPr>
            <a:spLocks noGrp="1"/>
          </p:cNvSpPr>
          <p:nvPr>
            <p:ph type="subTitle" idx="1"/>
          </p:nvPr>
        </p:nvSpPr>
        <p:spPr>
          <a:xfrm>
            <a:off x="1600200" y="2358189"/>
            <a:ext cx="8991600" cy="2878114"/>
          </a:xfrm>
        </p:spPr>
        <p:txBody>
          <a:bodyPr>
            <a:normAutofit lnSpcReduction="10000"/>
          </a:bodyPr>
          <a:lstStyle/>
          <a:p>
            <a:pPr algn="l"/>
            <a:r>
              <a:rPr lang="en-US" sz="2800" dirty="0">
                <a:solidFill>
                  <a:schemeClr val="bg1"/>
                </a:solidFill>
              </a:rPr>
              <a:t>The objectives of the proposed system include the following:-	</a:t>
            </a:r>
          </a:p>
          <a:p>
            <a:pPr algn="l"/>
            <a:r>
              <a:rPr lang="en-US" sz="2400" dirty="0">
                <a:solidFill>
                  <a:schemeClr val="bg1"/>
                </a:solidFill>
              </a:rPr>
              <a:t>1.</a:t>
            </a:r>
            <a:r>
              <a:rPr lang="en-US" dirty="0">
                <a:solidFill>
                  <a:schemeClr val="bg1"/>
                </a:solidFill>
              </a:rPr>
              <a:t>To store and process large educational datasets (using Apache Spark)</a:t>
            </a:r>
          </a:p>
          <a:p>
            <a:pPr algn="l"/>
            <a:r>
              <a:rPr lang="en-US" dirty="0">
                <a:solidFill>
                  <a:schemeClr val="bg1"/>
                </a:solidFill>
              </a:rPr>
              <a:t>2. Continuously track and monitor student academic metrics (Attendance, Grades, Backlogs)</a:t>
            </a:r>
          </a:p>
          <a:p>
            <a:pPr algn="l"/>
            <a:r>
              <a:rPr lang="en-US" dirty="0">
                <a:solidFill>
                  <a:schemeClr val="bg1"/>
                </a:solidFill>
              </a:rPr>
              <a:t>3.Provide accurate early-warning Burnout Risk results</a:t>
            </a:r>
          </a:p>
          <a:p>
            <a:pPr algn="l"/>
            <a:r>
              <a:rPr lang="en-US" dirty="0">
                <a:solidFill>
                  <a:schemeClr val="bg1"/>
                </a:solidFill>
              </a:rPr>
              <a:t>4.Performance evaluation should not be delayed until final exam</a:t>
            </a:r>
          </a:p>
          <a:p>
            <a:pPr algn="l"/>
            <a:endParaRPr lang="en-IN" sz="2400" dirty="0">
              <a:solidFill>
                <a:schemeClr val="bg1"/>
              </a:solidFill>
            </a:endParaRPr>
          </a:p>
        </p:txBody>
      </p:sp>
    </p:spTree>
    <p:extLst>
      <p:ext uri="{BB962C8B-B14F-4D97-AF65-F5344CB8AC3E}">
        <p14:creationId xmlns:p14="http://schemas.microsoft.com/office/powerpoint/2010/main" val="2071131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5161B-F867-2E5A-880D-35118E6E95E7}"/>
              </a:ext>
            </a:extLst>
          </p:cNvPr>
          <p:cNvSpPr>
            <a:spLocks noGrp="1"/>
          </p:cNvSpPr>
          <p:nvPr>
            <p:ph type="ctrTitle"/>
          </p:nvPr>
        </p:nvSpPr>
        <p:spPr>
          <a:xfrm>
            <a:off x="1600200" y="405441"/>
            <a:ext cx="8991600" cy="1239893"/>
          </a:xfrm>
        </p:spPr>
        <p:txBody>
          <a:bodyPr/>
          <a:lstStyle/>
          <a:p>
            <a:r>
              <a:rPr lang="en-IN" dirty="0"/>
              <a:t>Software requirements</a:t>
            </a:r>
          </a:p>
        </p:txBody>
      </p:sp>
      <p:sp>
        <p:nvSpPr>
          <p:cNvPr id="3" name="Subtitle 2">
            <a:extLst>
              <a:ext uri="{FF2B5EF4-FFF2-40B4-BE49-F238E27FC236}">
                <a16:creationId xmlns:a16="http://schemas.microsoft.com/office/drawing/2014/main" id="{C39A5226-01E7-E749-7996-917821C583B7}"/>
              </a:ext>
            </a:extLst>
          </p:cNvPr>
          <p:cNvSpPr>
            <a:spLocks noGrp="1"/>
          </p:cNvSpPr>
          <p:nvPr>
            <p:ph type="subTitle" idx="1"/>
          </p:nvPr>
        </p:nvSpPr>
        <p:spPr>
          <a:xfrm>
            <a:off x="1614196" y="2180025"/>
            <a:ext cx="8991600" cy="3715351"/>
          </a:xfrm>
        </p:spPr>
        <p:txBody>
          <a:bodyPr>
            <a:normAutofit fontScale="92500" lnSpcReduction="20000"/>
          </a:bodyPr>
          <a:lstStyle/>
          <a:p>
            <a:pPr algn="l"/>
            <a:r>
              <a:rPr lang="en-US" sz="4500" dirty="0">
                <a:solidFill>
                  <a:schemeClr val="bg1"/>
                </a:solidFill>
              </a:rPr>
              <a:t>Below are the software requirements for application development:</a:t>
            </a:r>
          </a:p>
          <a:p>
            <a:pPr algn="l"/>
            <a:r>
              <a:rPr lang="en-IN" dirty="0">
                <a:solidFill>
                  <a:schemeClr val="bg1"/>
                </a:solidFill>
              </a:rPr>
              <a:t>1.Python IDE (</a:t>
            </a:r>
            <a:r>
              <a:rPr lang="en-IN" dirty="0" err="1">
                <a:solidFill>
                  <a:schemeClr val="bg1"/>
                </a:solidFill>
              </a:rPr>
              <a:t>VSCode</a:t>
            </a:r>
            <a:r>
              <a:rPr lang="en-IN" dirty="0">
                <a:solidFill>
                  <a:schemeClr val="bg1"/>
                </a:solidFill>
              </a:rPr>
              <a:t> / PyCharm)</a:t>
            </a:r>
          </a:p>
          <a:p>
            <a:pPr algn="l"/>
            <a:r>
              <a:rPr lang="en-IN" dirty="0">
                <a:solidFill>
                  <a:schemeClr val="bg1"/>
                </a:solidFill>
              </a:rPr>
              <a:t>2.Apache Spark (Data Analytics Engine)</a:t>
            </a:r>
          </a:p>
          <a:p>
            <a:pPr algn="l"/>
            <a:r>
              <a:rPr lang="en-IN" dirty="0">
                <a:solidFill>
                  <a:schemeClr val="bg1"/>
                </a:solidFill>
              </a:rPr>
              <a:t>3.SQLite (Transactional Database)</a:t>
            </a:r>
          </a:p>
          <a:p>
            <a:pPr algn="l"/>
            <a:r>
              <a:rPr lang="en-IN" dirty="0">
                <a:solidFill>
                  <a:schemeClr val="bg1"/>
                </a:solidFill>
              </a:rPr>
              <a:t>4.InfluxDB (Time-Series Database)</a:t>
            </a:r>
          </a:p>
          <a:p>
            <a:pPr algn="l"/>
            <a:r>
              <a:rPr lang="en-IN" dirty="0">
                <a:solidFill>
                  <a:schemeClr val="bg1"/>
                </a:solidFill>
              </a:rPr>
              <a:t>5.Docker (Containerization for Grafana &amp; </a:t>
            </a:r>
            <a:r>
              <a:rPr lang="en-IN" dirty="0" err="1">
                <a:solidFill>
                  <a:schemeClr val="bg1"/>
                </a:solidFill>
              </a:rPr>
              <a:t>InfluxDB</a:t>
            </a:r>
            <a:r>
              <a:rPr lang="en-IN" dirty="0">
                <a:solidFill>
                  <a:schemeClr val="bg1"/>
                </a:solidFill>
              </a:rPr>
              <a:t>)</a:t>
            </a:r>
          </a:p>
          <a:p>
            <a:pPr algn="l"/>
            <a:r>
              <a:rPr lang="en-IN" dirty="0">
                <a:solidFill>
                  <a:schemeClr val="bg1"/>
                </a:solidFill>
              </a:rPr>
              <a:t>6.Grafana (Visualization Dashboard)</a:t>
            </a:r>
          </a:p>
          <a:p>
            <a:pPr algn="l"/>
            <a:r>
              <a:rPr lang="en-IN" dirty="0">
                <a:solidFill>
                  <a:schemeClr val="bg1"/>
                </a:solidFill>
              </a:rPr>
              <a:t>7.GitHub (Source Control)</a:t>
            </a:r>
          </a:p>
          <a:p>
            <a:pPr marL="457200" indent="-457200" algn="l">
              <a:buAutoNum type="arabicPeriod"/>
            </a:pPr>
            <a:endParaRPr lang="en-IN" sz="3400" dirty="0">
              <a:solidFill>
                <a:schemeClr val="bg1"/>
              </a:solidFill>
            </a:endParaRPr>
          </a:p>
        </p:txBody>
      </p:sp>
    </p:spTree>
    <p:extLst>
      <p:ext uri="{BB962C8B-B14F-4D97-AF65-F5344CB8AC3E}">
        <p14:creationId xmlns:p14="http://schemas.microsoft.com/office/powerpoint/2010/main" val="1618906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DDD-652B-7175-744D-D2990D9C81D1}"/>
              </a:ext>
            </a:extLst>
          </p:cNvPr>
          <p:cNvSpPr>
            <a:spLocks noGrp="1"/>
          </p:cNvSpPr>
          <p:nvPr>
            <p:ph type="ctrTitle"/>
          </p:nvPr>
        </p:nvSpPr>
        <p:spPr>
          <a:xfrm>
            <a:off x="1600200" y="474454"/>
            <a:ext cx="8991600" cy="1147312"/>
          </a:xfrm>
        </p:spPr>
        <p:txBody>
          <a:bodyPr/>
          <a:lstStyle/>
          <a:p>
            <a:r>
              <a:rPr lang="en-IN" dirty="0"/>
              <a:t>Hardware requirements</a:t>
            </a:r>
          </a:p>
        </p:txBody>
      </p:sp>
      <p:sp>
        <p:nvSpPr>
          <p:cNvPr id="3" name="Subtitle 2">
            <a:extLst>
              <a:ext uri="{FF2B5EF4-FFF2-40B4-BE49-F238E27FC236}">
                <a16:creationId xmlns:a16="http://schemas.microsoft.com/office/drawing/2014/main" id="{503926B3-A3FC-7687-9DEF-38613303658D}"/>
              </a:ext>
            </a:extLst>
          </p:cNvPr>
          <p:cNvSpPr>
            <a:spLocks noGrp="1"/>
          </p:cNvSpPr>
          <p:nvPr>
            <p:ph type="subTitle" idx="1"/>
          </p:nvPr>
        </p:nvSpPr>
        <p:spPr>
          <a:xfrm>
            <a:off x="1600200" y="2298299"/>
            <a:ext cx="8991599" cy="3255638"/>
          </a:xfrm>
        </p:spPr>
        <p:txBody>
          <a:bodyPr/>
          <a:lstStyle/>
          <a:p>
            <a:pPr algn="l"/>
            <a:r>
              <a:rPr lang="en-US" sz="2800" dirty="0">
                <a:solidFill>
                  <a:schemeClr val="bg1"/>
                </a:solidFill>
              </a:rPr>
              <a:t>Hardware requirements for application development are as follows:</a:t>
            </a:r>
          </a:p>
          <a:p>
            <a:pPr algn="l"/>
            <a:r>
              <a:rPr lang="en-US" sz="2400" dirty="0">
                <a:solidFill>
                  <a:schemeClr val="bg1"/>
                </a:solidFill>
              </a:rPr>
              <a:t>1.</a:t>
            </a:r>
            <a:r>
              <a:rPr lang="en-US" dirty="0">
                <a:solidFill>
                  <a:schemeClr val="bg1"/>
                </a:solidFill>
              </a:rPr>
              <a:t>CPU - Intel Core i3 or higher (i5 recommended)</a:t>
            </a:r>
          </a:p>
          <a:p>
            <a:pPr algn="l"/>
            <a:r>
              <a:rPr lang="en-US" dirty="0">
                <a:solidFill>
                  <a:schemeClr val="bg1"/>
                </a:solidFill>
              </a:rPr>
              <a:t>2.RAM – 8 GB or higher</a:t>
            </a:r>
          </a:p>
          <a:p>
            <a:pPr algn="l"/>
            <a:r>
              <a:rPr lang="en-US" dirty="0">
                <a:solidFill>
                  <a:schemeClr val="bg1"/>
                </a:solidFill>
              </a:rPr>
              <a:t>3.Storage – 20 GB or higher</a:t>
            </a:r>
          </a:p>
          <a:p>
            <a:pPr algn="l"/>
            <a:r>
              <a:rPr lang="en-US" dirty="0">
                <a:solidFill>
                  <a:schemeClr val="bg1"/>
                </a:solidFill>
              </a:rPr>
              <a:t>4.OS - Windows 10 or higher</a:t>
            </a:r>
          </a:p>
          <a:p>
            <a:pPr marL="457200" indent="-457200" algn="l">
              <a:buAutoNum type="arabicPeriod"/>
            </a:pPr>
            <a:endParaRPr lang="en-IN" sz="2400" dirty="0">
              <a:solidFill>
                <a:schemeClr val="bg1"/>
              </a:solidFill>
            </a:endParaRPr>
          </a:p>
        </p:txBody>
      </p:sp>
    </p:spTree>
    <p:extLst>
      <p:ext uri="{BB962C8B-B14F-4D97-AF65-F5344CB8AC3E}">
        <p14:creationId xmlns:p14="http://schemas.microsoft.com/office/powerpoint/2010/main" val="3408330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48239"/>
            <a:ext cx="8703733" cy="974116"/>
          </a:xfrm>
        </p:spPr>
        <p:txBody>
          <a:bodyPr>
            <a:noAutofit/>
          </a:bodyPr>
          <a:lstStyle/>
          <a:p>
            <a:r>
              <a:rPr lang="en-US" sz="2800" dirty="0">
                <a:latin typeface="Times New Roman" panose="02020603050405020304" pitchFamily="18" charset="0"/>
                <a:cs typeface="Times New Roman" panose="02020603050405020304" pitchFamily="18" charset="0"/>
              </a:rPr>
              <a:t>FUNCTIONAL  requirements</a:t>
            </a:r>
            <a:endParaRPr lang="en-IN"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9AD370F-66A5-D81F-C019-4E8D6007200A}"/>
              </a:ext>
            </a:extLst>
          </p:cNvPr>
          <p:cNvSpPr txBox="1"/>
          <p:nvPr/>
        </p:nvSpPr>
        <p:spPr>
          <a:xfrm>
            <a:off x="1371600" y="1867301"/>
            <a:ext cx="8703733" cy="1908215"/>
          </a:xfrm>
          <a:prstGeom prst="rect">
            <a:avLst/>
          </a:prstGeom>
          <a:noFill/>
        </p:spPr>
        <p:txBody>
          <a:bodyPr wrap="square">
            <a:spAutoFit/>
          </a:bodyPr>
          <a:lstStyle/>
          <a:p>
            <a:r>
              <a:rPr lang="en-IN" dirty="0">
                <a:solidFill>
                  <a:schemeClr val="bg1"/>
                </a:solidFill>
              </a:rPr>
              <a:t>1.System should process raw student datasets (attendance, grades, backlogs) via Apache Spark.</a:t>
            </a:r>
          </a:p>
          <a:p>
            <a:r>
              <a:rPr lang="en-IN" dirty="0">
                <a:solidFill>
                  <a:schemeClr val="bg1"/>
                </a:solidFill>
              </a:rPr>
              <a:t>2.The Risk Engine must process the dataset to calculate the Burnout Stress Index.</a:t>
            </a:r>
          </a:p>
          <a:p>
            <a:r>
              <a:rPr lang="en-IN" dirty="0">
                <a:solidFill>
                  <a:schemeClr val="bg1"/>
                </a:solidFill>
              </a:rPr>
              <a:t>3.System should generate automated warning letter PDFs based on calculated risk thresholds.</a:t>
            </a:r>
          </a:p>
          <a:p>
            <a:endParaRPr lang="en-IN" sz="2800" dirty="0">
              <a:solidFill>
                <a:schemeClr val="bg1"/>
              </a:solidFill>
            </a:endParaRPr>
          </a:p>
        </p:txBody>
      </p:sp>
    </p:spTree>
    <p:extLst>
      <p:ext uri="{BB962C8B-B14F-4D97-AF65-F5344CB8AC3E}">
        <p14:creationId xmlns:p14="http://schemas.microsoft.com/office/powerpoint/2010/main" val="3412229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C7674-5984-2F59-F6CD-2D0A70C837A6}"/>
              </a:ext>
            </a:extLst>
          </p:cNvPr>
          <p:cNvSpPr>
            <a:spLocks noGrp="1"/>
          </p:cNvSpPr>
          <p:nvPr>
            <p:ph type="ctrTitle"/>
          </p:nvPr>
        </p:nvSpPr>
        <p:spPr>
          <a:xfrm>
            <a:off x="1600200" y="345058"/>
            <a:ext cx="8991600" cy="1052422"/>
          </a:xfrm>
        </p:spPr>
        <p:txBody>
          <a:bodyPr>
            <a:normAutofit fontScale="90000"/>
          </a:bodyPr>
          <a:lstStyle/>
          <a:p>
            <a:r>
              <a:rPr lang="en-IN" dirty="0"/>
              <a:t>Non - functional requirements</a:t>
            </a:r>
          </a:p>
        </p:txBody>
      </p:sp>
      <p:sp>
        <p:nvSpPr>
          <p:cNvPr id="3" name="Subtitle 2">
            <a:extLst>
              <a:ext uri="{FF2B5EF4-FFF2-40B4-BE49-F238E27FC236}">
                <a16:creationId xmlns:a16="http://schemas.microsoft.com/office/drawing/2014/main" id="{080C1CC3-9DB9-EE6E-134C-6FF56C1BFB53}"/>
              </a:ext>
            </a:extLst>
          </p:cNvPr>
          <p:cNvSpPr>
            <a:spLocks noGrp="1"/>
          </p:cNvSpPr>
          <p:nvPr>
            <p:ph type="subTitle" idx="1"/>
          </p:nvPr>
        </p:nvSpPr>
        <p:spPr>
          <a:xfrm>
            <a:off x="1328286" y="2290813"/>
            <a:ext cx="10241279" cy="3301625"/>
          </a:xfrm>
        </p:spPr>
        <p:txBody>
          <a:bodyPr>
            <a:normAutofit/>
          </a:bodyPr>
          <a:lstStyle/>
          <a:p>
            <a:pPr algn="l"/>
            <a:r>
              <a:rPr lang="en-US" b="1" dirty="0">
                <a:solidFill>
                  <a:schemeClr val="bg1"/>
                </a:solidFill>
              </a:rPr>
              <a:t>1.Reliability:</a:t>
            </a:r>
            <a:r>
              <a:rPr lang="en-US" dirty="0">
                <a:solidFill>
                  <a:schemeClr val="bg1"/>
                </a:solidFill>
              </a:rPr>
              <a:t> The system should securely handle missing values and detect runtime exceptions during large CSV uploads properly.</a:t>
            </a:r>
          </a:p>
          <a:p>
            <a:pPr algn="l"/>
            <a:r>
              <a:rPr lang="en-US" b="1" dirty="0">
                <a:solidFill>
                  <a:schemeClr val="bg1"/>
                </a:solidFill>
              </a:rPr>
              <a:t>2.Security:</a:t>
            </a:r>
            <a:r>
              <a:rPr lang="en-US" dirty="0">
                <a:solidFill>
                  <a:schemeClr val="bg1"/>
                </a:solidFill>
              </a:rPr>
              <a:t> No one should be allowed to modify the content of the database or access student performance profiles without administrator authorization.</a:t>
            </a:r>
          </a:p>
          <a:p>
            <a:pPr algn="l"/>
            <a:r>
              <a:rPr lang="en-US" b="1" dirty="0">
                <a:solidFill>
                  <a:schemeClr val="bg1"/>
                </a:solidFill>
              </a:rPr>
              <a:t>3.Scalability:</a:t>
            </a:r>
            <a:r>
              <a:rPr lang="en-US" dirty="0">
                <a:solidFill>
                  <a:schemeClr val="bg1"/>
                </a:solidFill>
              </a:rPr>
              <a:t> The system should be able to cope up with updates, effortlessly handling thousands of concurrent student records without crashing.</a:t>
            </a:r>
          </a:p>
          <a:p>
            <a:pPr algn="l"/>
            <a:r>
              <a:rPr lang="en-US" b="1" dirty="0">
                <a:solidFill>
                  <a:schemeClr val="bg1"/>
                </a:solidFill>
              </a:rPr>
              <a:t>4.Performance:</a:t>
            </a:r>
            <a:r>
              <a:rPr lang="en-US" dirty="0">
                <a:solidFill>
                  <a:schemeClr val="bg1"/>
                </a:solidFill>
              </a:rPr>
              <a:t> The dashboard response time shall be adequate enough, that's why the time required for the Flask application to query Spark and respond to its user's actions has to be managed and controlled instantly.</a:t>
            </a:r>
          </a:p>
          <a:p>
            <a:pPr algn="l"/>
            <a:endParaRPr lang="en-IN" sz="2400" dirty="0">
              <a:solidFill>
                <a:schemeClr val="bg1"/>
              </a:solidFill>
            </a:endParaRPr>
          </a:p>
        </p:txBody>
      </p:sp>
    </p:spTree>
    <p:extLst>
      <p:ext uri="{BB962C8B-B14F-4D97-AF65-F5344CB8AC3E}">
        <p14:creationId xmlns:p14="http://schemas.microsoft.com/office/powerpoint/2010/main" val="2994999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20413" y="322839"/>
            <a:ext cx="7551173" cy="974116"/>
          </a:xfrm>
        </p:spPr>
        <p:txBody>
          <a:bodyPr>
            <a:normAutofit/>
          </a:bodyPr>
          <a:lstStyle/>
          <a:p>
            <a:r>
              <a:rPr lang="en-US" dirty="0"/>
              <a:t>Literature survey</a:t>
            </a:r>
            <a:endParaRPr lang="en-IN" dirty="0"/>
          </a:p>
        </p:txBody>
      </p:sp>
      <p:graphicFrame>
        <p:nvGraphicFramePr>
          <p:cNvPr id="3" name="Table 3"/>
          <p:cNvGraphicFramePr>
            <a:graphicFrameLocks noGrp="1"/>
          </p:cNvGraphicFramePr>
          <p:nvPr>
            <p:extLst>
              <p:ext uri="{D42A27DB-BD31-4B8C-83A1-F6EECF244321}">
                <p14:modId xmlns:p14="http://schemas.microsoft.com/office/powerpoint/2010/main" val="2147628748"/>
              </p:ext>
            </p:extLst>
          </p:nvPr>
        </p:nvGraphicFramePr>
        <p:xfrm>
          <a:off x="864079" y="1742535"/>
          <a:ext cx="10463841" cy="4792626"/>
        </p:xfrm>
        <a:graphic>
          <a:graphicData uri="http://schemas.openxmlformats.org/drawingml/2006/table">
            <a:tbl>
              <a:tblPr firstRow="1" bandRow="1">
                <a:tableStyleId>{073A0DAA-6AF3-43AB-8588-CEC1D06C72B9}</a:tableStyleId>
              </a:tblPr>
              <a:tblGrid>
                <a:gridCol w="637366">
                  <a:extLst>
                    <a:ext uri="{9D8B030D-6E8A-4147-A177-3AD203B41FA5}">
                      <a16:colId xmlns:a16="http://schemas.microsoft.com/office/drawing/2014/main" val="20000"/>
                    </a:ext>
                  </a:extLst>
                </a:gridCol>
                <a:gridCol w="2693457">
                  <a:extLst>
                    <a:ext uri="{9D8B030D-6E8A-4147-A177-3AD203B41FA5}">
                      <a16:colId xmlns:a16="http://schemas.microsoft.com/office/drawing/2014/main" val="20001"/>
                    </a:ext>
                  </a:extLst>
                </a:gridCol>
                <a:gridCol w="2830961">
                  <a:extLst>
                    <a:ext uri="{9D8B030D-6E8A-4147-A177-3AD203B41FA5}">
                      <a16:colId xmlns:a16="http://schemas.microsoft.com/office/drawing/2014/main" val="20002"/>
                    </a:ext>
                  </a:extLst>
                </a:gridCol>
                <a:gridCol w="1733279">
                  <a:extLst>
                    <a:ext uri="{9D8B030D-6E8A-4147-A177-3AD203B41FA5}">
                      <a16:colId xmlns:a16="http://schemas.microsoft.com/office/drawing/2014/main" val="20003"/>
                    </a:ext>
                  </a:extLst>
                </a:gridCol>
                <a:gridCol w="2568778">
                  <a:extLst>
                    <a:ext uri="{9D8B030D-6E8A-4147-A177-3AD203B41FA5}">
                      <a16:colId xmlns:a16="http://schemas.microsoft.com/office/drawing/2014/main" val="20004"/>
                    </a:ext>
                  </a:extLst>
                </a:gridCol>
              </a:tblGrid>
              <a:tr h="838805">
                <a:tc>
                  <a:txBody>
                    <a:bodyPr/>
                    <a:lstStyle/>
                    <a:p>
                      <a:pPr algn="ctr"/>
                      <a:r>
                        <a:rPr lang="en-IN" sz="1100" dirty="0">
                          <a:latin typeface="Times New Roman" panose="02020603050405020304" pitchFamily="18" charset="0"/>
                          <a:cs typeface="Times New Roman" panose="02020603050405020304" pitchFamily="18" charset="0"/>
                        </a:rPr>
                        <a:t>S. No</a:t>
                      </a:r>
                    </a:p>
                  </a:txBody>
                  <a:tcPr/>
                </a:tc>
                <a:tc>
                  <a:txBody>
                    <a:bodyPr/>
                    <a:lstStyle/>
                    <a:p>
                      <a:pPr algn="ctr"/>
                      <a:r>
                        <a:rPr lang="en-IN" sz="1100" dirty="0">
                          <a:latin typeface="Times New Roman" panose="02020603050405020304" pitchFamily="18" charset="0"/>
                          <a:cs typeface="Times New Roman" panose="02020603050405020304" pitchFamily="18" charset="0"/>
                        </a:rPr>
                        <a:t>Name of the research paper</a:t>
                      </a:r>
                    </a:p>
                  </a:txBody>
                  <a:tcPr/>
                </a:tc>
                <a:tc>
                  <a:txBody>
                    <a:bodyPr/>
                    <a:lstStyle/>
                    <a:p>
                      <a:pPr algn="ctr"/>
                      <a:r>
                        <a:rPr lang="en-IN" sz="1100" dirty="0">
                          <a:latin typeface="Times New Roman" panose="02020603050405020304" pitchFamily="18" charset="0"/>
                          <a:cs typeface="Times New Roman" panose="02020603050405020304" pitchFamily="18" charset="0"/>
                        </a:rPr>
                        <a:t>Author name</a:t>
                      </a:r>
                    </a:p>
                  </a:txBody>
                  <a:tcPr/>
                </a:tc>
                <a:tc>
                  <a:txBody>
                    <a:bodyPr/>
                    <a:lstStyle/>
                    <a:p>
                      <a:pPr algn="ctr"/>
                      <a:r>
                        <a:rPr lang="en-IN" sz="1100" dirty="0">
                          <a:latin typeface="Times New Roman" panose="02020603050405020304" pitchFamily="18" charset="0"/>
                          <a:cs typeface="Times New Roman" panose="02020603050405020304" pitchFamily="18" charset="0"/>
                        </a:rPr>
                        <a:t>Technologies used</a:t>
                      </a:r>
                    </a:p>
                  </a:txBody>
                  <a:tcPr/>
                </a:tc>
                <a:tc>
                  <a:txBody>
                    <a:bodyPr/>
                    <a:lstStyle/>
                    <a:p>
                      <a:pPr algn="ctr"/>
                      <a:r>
                        <a:rPr lang="en-IN" sz="1100" dirty="0">
                          <a:latin typeface="Times New Roman" panose="02020603050405020304" pitchFamily="18" charset="0"/>
                          <a:cs typeface="Times New Roman" panose="02020603050405020304" pitchFamily="18" charset="0"/>
                        </a:rPr>
                        <a:t>Advantages/ Disadvantages</a:t>
                      </a:r>
                    </a:p>
                  </a:txBody>
                  <a:tcPr/>
                </a:tc>
                <a:extLst>
                  <a:ext uri="{0D108BD9-81ED-4DB2-BD59-A6C34878D82A}">
                    <a16:rowId xmlns:a16="http://schemas.microsoft.com/office/drawing/2014/main" val="10000"/>
                  </a:ext>
                </a:extLst>
              </a:tr>
              <a:tr h="1563135">
                <a:tc>
                  <a:txBody>
                    <a:bodyPr/>
                    <a:lstStyle/>
                    <a:p>
                      <a:r>
                        <a:rPr lang="en-IN" sz="1100" dirty="0">
                          <a:latin typeface="Times New Roman" panose="02020603050405020304" pitchFamily="18" charset="0"/>
                          <a:cs typeface="Times New Roman" panose="02020603050405020304" pitchFamily="18" charset="0"/>
                        </a:rPr>
                        <a:t>1</a:t>
                      </a:r>
                    </a:p>
                  </a:txBody>
                  <a:tcPr/>
                </a:tc>
                <a:tc>
                  <a:txBody>
                    <a:bodyPr/>
                    <a:lstStyle/>
                    <a:p>
                      <a:r>
                        <a:rPr lang="en-IN" sz="1100" dirty="0">
                          <a:latin typeface="Times New Roman" panose="02020603050405020304" pitchFamily="18" charset="0"/>
                          <a:cs typeface="Times New Roman" panose="02020603050405020304" pitchFamily="18" charset="0"/>
                        </a:rPr>
                        <a:t>Evaluation of Italian wine by the electronic tongue: recognition, quantitative analysis and </a:t>
                      </a:r>
                      <a:r>
                        <a:rPr lang="en-IN" sz="1100" dirty="0" err="1">
                          <a:latin typeface="Times New Roman" panose="02020603050405020304" pitchFamily="18" charset="0"/>
                          <a:cs typeface="Times New Roman" panose="02020603050405020304" pitchFamily="18" charset="0"/>
                        </a:rPr>
                        <a:t>corrolation</a:t>
                      </a:r>
                      <a:r>
                        <a:rPr lang="en-IN" sz="1100" dirty="0">
                          <a:latin typeface="Times New Roman" panose="02020603050405020304" pitchFamily="18" charset="0"/>
                          <a:cs typeface="Times New Roman" panose="02020603050405020304" pitchFamily="18" charset="0"/>
                        </a:rPr>
                        <a:t> with human sensory perception,2003</a:t>
                      </a:r>
                    </a:p>
                  </a:txBody>
                  <a:tcPr/>
                </a:tc>
                <a:tc>
                  <a:txBody>
                    <a:bodyPr/>
                    <a:lstStyle/>
                    <a:p>
                      <a:r>
                        <a:rPr lang="en-IN" sz="1100" dirty="0" err="1">
                          <a:latin typeface="Times New Roman" panose="02020603050405020304" pitchFamily="18" charset="0"/>
                          <a:cs typeface="Times New Roman" panose="02020603050405020304" pitchFamily="18" charset="0"/>
                        </a:rPr>
                        <a:t>Legin</a:t>
                      </a:r>
                      <a:r>
                        <a:rPr lang="en-IN" sz="1100" dirty="0">
                          <a:latin typeface="Times New Roman" panose="02020603050405020304" pitchFamily="18" charset="0"/>
                          <a:cs typeface="Times New Roman" panose="02020603050405020304" pitchFamily="18" charset="0"/>
                        </a:rPr>
                        <a:t>, </a:t>
                      </a:r>
                      <a:r>
                        <a:rPr lang="en-IN" sz="1100" dirty="0" err="1">
                          <a:latin typeface="Times New Roman" panose="02020603050405020304" pitchFamily="18" charset="0"/>
                          <a:cs typeface="Times New Roman" panose="02020603050405020304" pitchFamily="18" charset="0"/>
                        </a:rPr>
                        <a:t>Rudnitskaya</a:t>
                      </a:r>
                      <a:r>
                        <a:rPr lang="en-IN" sz="1100" dirty="0">
                          <a:latin typeface="Times New Roman" panose="02020603050405020304" pitchFamily="18" charset="0"/>
                          <a:cs typeface="Times New Roman" panose="02020603050405020304" pitchFamily="18" charset="0"/>
                        </a:rPr>
                        <a:t>, </a:t>
                      </a:r>
                      <a:r>
                        <a:rPr lang="en-IN" sz="1100" dirty="0" err="1">
                          <a:latin typeface="Times New Roman" panose="02020603050405020304" pitchFamily="18" charset="0"/>
                          <a:cs typeface="Times New Roman" panose="02020603050405020304" pitchFamily="18" charset="0"/>
                        </a:rPr>
                        <a:t>Luvova</a:t>
                      </a:r>
                      <a:r>
                        <a:rPr lang="en-IN" sz="1100" dirty="0">
                          <a:latin typeface="Times New Roman" panose="02020603050405020304" pitchFamily="18" charset="0"/>
                          <a:cs typeface="Times New Roman" panose="02020603050405020304" pitchFamily="18" charset="0"/>
                        </a:rPr>
                        <a:t>, </a:t>
                      </a:r>
                      <a:r>
                        <a:rPr lang="en-IN" sz="1100" dirty="0" err="1">
                          <a:latin typeface="Times New Roman" panose="02020603050405020304" pitchFamily="18" charset="0"/>
                          <a:cs typeface="Times New Roman" panose="02020603050405020304" pitchFamily="18" charset="0"/>
                        </a:rPr>
                        <a:t>Vlosov</a:t>
                      </a:r>
                      <a:r>
                        <a:rPr lang="en-IN" sz="1100" dirty="0">
                          <a:latin typeface="Times New Roman" panose="02020603050405020304" pitchFamily="18" charset="0"/>
                          <a:cs typeface="Times New Roman" panose="02020603050405020304" pitchFamily="18" charset="0"/>
                        </a:rPr>
                        <a:t>, Natale, D’Amico</a:t>
                      </a:r>
                    </a:p>
                  </a:txBody>
                  <a:tcPr/>
                </a:tc>
                <a:tc>
                  <a:txBody>
                    <a:bodyPr/>
                    <a:lstStyle/>
                    <a:p>
                      <a:r>
                        <a:rPr lang="en-IN" sz="1100" dirty="0">
                          <a:latin typeface="Times New Roman" panose="02020603050405020304" pitchFamily="18" charset="0"/>
                          <a:cs typeface="Times New Roman" panose="02020603050405020304" pitchFamily="18" charset="0"/>
                        </a:rPr>
                        <a:t>Array of sensors, Data processing techniques</a:t>
                      </a:r>
                    </a:p>
                  </a:txBody>
                  <a:tcPr/>
                </a:tc>
                <a:tc>
                  <a:txBody>
                    <a:bodyPr/>
                    <a:lstStyle/>
                    <a:p>
                      <a:r>
                        <a:rPr lang="en-IN" sz="1100" dirty="0">
                          <a:latin typeface="Times New Roman" panose="02020603050405020304" pitchFamily="18" charset="0"/>
                          <a:cs typeface="Times New Roman" panose="02020603050405020304" pitchFamily="18" charset="0"/>
                        </a:rPr>
                        <a:t>Advantage: minimizes human risks involved</a:t>
                      </a:r>
                    </a:p>
                    <a:p>
                      <a:r>
                        <a:rPr lang="en-IN" sz="1100" dirty="0">
                          <a:latin typeface="Times New Roman" panose="02020603050405020304" pitchFamily="18" charset="0"/>
                          <a:cs typeface="Times New Roman" panose="02020603050405020304" pitchFamily="18" charset="0"/>
                        </a:rPr>
                        <a:t>Disadvantage: Time consuming and results affected by temperature</a:t>
                      </a:r>
                    </a:p>
                  </a:txBody>
                  <a:tcPr/>
                </a:tc>
                <a:extLst>
                  <a:ext uri="{0D108BD9-81ED-4DB2-BD59-A6C34878D82A}">
                    <a16:rowId xmlns:a16="http://schemas.microsoft.com/office/drawing/2014/main" val="10001"/>
                  </a:ext>
                </a:extLst>
              </a:tr>
              <a:tr h="1317942">
                <a:tc>
                  <a:txBody>
                    <a:bodyPr/>
                    <a:lstStyle/>
                    <a:p>
                      <a:r>
                        <a:rPr lang="en-IN" sz="1100" dirty="0">
                          <a:latin typeface="Times New Roman" panose="02020603050405020304" pitchFamily="18" charset="0"/>
                          <a:cs typeface="Times New Roman" panose="02020603050405020304" pitchFamily="18"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100" dirty="0">
                          <a:latin typeface="Times New Roman" panose="02020603050405020304" pitchFamily="18" charset="0"/>
                          <a:cs typeface="Times New Roman" panose="02020603050405020304" pitchFamily="18" charset="0"/>
                        </a:rPr>
                        <a:t>Selection of important features and predicting wine quality using ML techniques,2017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100" dirty="0">
                          <a:latin typeface="Times New Roman" panose="02020603050405020304" pitchFamily="18" charset="0"/>
                          <a:cs typeface="Times New Roman" panose="02020603050405020304" pitchFamily="18" charset="0"/>
                        </a:rPr>
                        <a:t>Yogesh Gupta</a:t>
                      </a:r>
                    </a:p>
                    <a:p>
                      <a:pPr marL="0" marR="0" lvl="0" indent="0" algn="l" defTabSz="914400" rtl="0" eaLnBrk="1" fontAlgn="auto" latinLnBrk="0" hangingPunct="1">
                        <a:lnSpc>
                          <a:spcPct val="100000"/>
                        </a:lnSpc>
                        <a:spcBef>
                          <a:spcPts val="0"/>
                        </a:spcBef>
                        <a:spcAft>
                          <a:spcPts val="0"/>
                        </a:spcAft>
                        <a:buClrTx/>
                        <a:buSzTx/>
                        <a:buFontTx/>
                        <a:buNone/>
                        <a:defRPr/>
                      </a:pP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Linear regression, neural networks, SVM</a:t>
                      </a:r>
                    </a:p>
                  </a:txBody>
                  <a:tcPr/>
                </a:tc>
                <a:tc>
                  <a:txBody>
                    <a:bodyPr/>
                    <a:lstStyle/>
                    <a:p>
                      <a:r>
                        <a:rPr lang="en-IN" sz="1100" dirty="0">
                          <a:latin typeface="Times New Roman" panose="02020603050405020304" pitchFamily="18" charset="0"/>
                          <a:cs typeface="Times New Roman" panose="02020603050405020304" pitchFamily="18" charset="0"/>
                        </a:rPr>
                        <a:t>Advantage: more precise predictions </a:t>
                      </a:r>
                    </a:p>
                    <a:p>
                      <a:r>
                        <a:rPr lang="en-IN" sz="1100" dirty="0">
                          <a:latin typeface="Times New Roman" panose="02020603050405020304" pitchFamily="18" charset="0"/>
                          <a:cs typeface="Times New Roman" panose="02020603050405020304" pitchFamily="18" charset="0"/>
                        </a:rPr>
                        <a:t>Disadvantage: results are not accurate for large datasets</a:t>
                      </a:r>
                    </a:p>
                  </a:txBody>
                  <a:tcPr/>
                </a:tc>
                <a:extLst>
                  <a:ext uri="{0D108BD9-81ED-4DB2-BD59-A6C34878D82A}">
                    <a16:rowId xmlns:a16="http://schemas.microsoft.com/office/drawing/2014/main" val="10002"/>
                  </a:ext>
                </a:extLst>
              </a:tr>
              <a:tr h="1072744">
                <a:tc>
                  <a:txBody>
                    <a:bodyPr/>
                    <a:lstStyle/>
                    <a:p>
                      <a:r>
                        <a:rPr lang="en-IN" sz="1100" dirty="0">
                          <a:latin typeface="Times New Roman" panose="02020603050405020304" pitchFamily="18" charset="0"/>
                          <a:cs typeface="Times New Roman" panose="02020603050405020304" pitchFamily="18" charset="0"/>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100" dirty="0" err="1">
                          <a:latin typeface="Times New Roman" panose="02020603050405020304" pitchFamily="18" charset="0"/>
                          <a:cs typeface="Times New Roman" panose="02020603050405020304" pitchFamily="18" charset="0"/>
                        </a:rPr>
                        <a:t>MLOps</a:t>
                      </a:r>
                      <a:r>
                        <a:rPr lang="en-IN" sz="1100" dirty="0">
                          <a:latin typeface="Times New Roman" panose="02020603050405020304" pitchFamily="18" charset="0"/>
                          <a:cs typeface="Times New Roman" panose="02020603050405020304" pitchFamily="18" charset="0"/>
                        </a:rPr>
                        <a:t> Overview, Definition and Architecture,2021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100" dirty="0">
                          <a:latin typeface="Times New Roman" panose="02020603050405020304" pitchFamily="18" charset="0"/>
                          <a:cs typeface="Times New Roman" panose="02020603050405020304" pitchFamily="18" charset="0"/>
                        </a:rPr>
                        <a:t>Dominik </a:t>
                      </a:r>
                      <a:r>
                        <a:rPr lang="en-IN" sz="1100" dirty="0" err="1">
                          <a:latin typeface="Times New Roman" panose="02020603050405020304" pitchFamily="18" charset="0"/>
                          <a:cs typeface="Times New Roman" panose="02020603050405020304" pitchFamily="18" charset="0"/>
                        </a:rPr>
                        <a:t>Kreuzberger</a:t>
                      </a:r>
                      <a:r>
                        <a:rPr lang="en-IN" sz="1100" dirty="0">
                          <a:latin typeface="Times New Roman" panose="02020603050405020304" pitchFamily="18" charset="0"/>
                          <a:cs typeface="Times New Roman" panose="02020603050405020304" pitchFamily="18" charset="0"/>
                        </a:rPr>
                        <a:t>, </a:t>
                      </a:r>
                      <a:r>
                        <a:rPr lang="en-IN" sz="1100" dirty="0" err="1">
                          <a:latin typeface="Times New Roman" panose="02020603050405020304" pitchFamily="18" charset="0"/>
                          <a:cs typeface="Times New Roman" panose="02020603050405020304" pitchFamily="18" charset="0"/>
                        </a:rPr>
                        <a:t>Niklas</a:t>
                      </a:r>
                      <a:r>
                        <a:rPr lang="en-IN" sz="1100" dirty="0">
                          <a:latin typeface="Times New Roman" panose="02020603050405020304" pitchFamily="18" charset="0"/>
                          <a:cs typeface="Times New Roman" panose="02020603050405020304" pitchFamily="18" charset="0"/>
                        </a:rPr>
                        <a:t> Kuhl, Sebastian </a:t>
                      </a:r>
                      <a:r>
                        <a:rPr lang="en-IN" sz="1100" dirty="0" err="1">
                          <a:latin typeface="Times New Roman" panose="02020603050405020304" pitchFamily="18" charset="0"/>
                          <a:cs typeface="Times New Roman" panose="02020603050405020304" pitchFamily="18" charset="0"/>
                        </a:rPr>
                        <a:t>Hirschl</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DevOps, ML pipeline</a:t>
                      </a:r>
                    </a:p>
                  </a:txBody>
                  <a:tcPr/>
                </a:tc>
                <a:tc>
                  <a:txBody>
                    <a:bodyPr/>
                    <a:lstStyle/>
                    <a:p>
                      <a:r>
                        <a:rPr lang="en-IN" sz="1100" dirty="0">
                          <a:latin typeface="Times New Roman" panose="02020603050405020304" pitchFamily="18" charset="0"/>
                          <a:cs typeface="Times New Roman" panose="02020603050405020304" pitchFamily="18" charset="0"/>
                        </a:rPr>
                        <a:t>Advantage: automation  of ML workflow</a:t>
                      </a:r>
                    </a:p>
                    <a:p>
                      <a:r>
                        <a:rPr lang="en-IN" sz="1100" dirty="0">
                          <a:latin typeface="Times New Roman" panose="02020603050405020304" pitchFamily="18" charset="0"/>
                          <a:cs typeface="Times New Roman" panose="02020603050405020304" pitchFamily="18" charset="0"/>
                        </a:rPr>
                        <a:t>Disadvantage: still need human assistance</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Thank you</a:t>
            </a:r>
            <a:endParaRPr lang="en-IN" dirty="0"/>
          </a:p>
        </p:txBody>
      </p:sp>
      <p:graphicFrame>
        <p:nvGraphicFramePr>
          <p:cNvPr id="3" name="Table 3">
            <a:extLst>
              <a:ext uri="{FF2B5EF4-FFF2-40B4-BE49-F238E27FC236}">
                <a16:creationId xmlns:a16="http://schemas.microsoft.com/office/drawing/2014/main" id="{FDA493FD-6CAC-82F4-A981-CEAC1275D62D}"/>
              </a:ext>
            </a:extLst>
          </p:cNvPr>
          <p:cNvGraphicFramePr>
            <a:graphicFrameLocks noGrp="1"/>
          </p:cNvGraphicFramePr>
          <p:nvPr>
            <p:extLst>
              <p:ext uri="{D42A27DB-BD31-4B8C-83A1-F6EECF244321}">
                <p14:modId xmlns:p14="http://schemas.microsoft.com/office/powerpoint/2010/main" val="1883901571"/>
              </p:ext>
            </p:extLst>
          </p:nvPr>
        </p:nvGraphicFramePr>
        <p:xfrm>
          <a:off x="517585" y="897147"/>
          <a:ext cx="10964174" cy="5365630"/>
        </p:xfrm>
        <a:graphic>
          <a:graphicData uri="http://schemas.openxmlformats.org/drawingml/2006/table">
            <a:tbl>
              <a:tblPr firstRow="1" bandRow="1">
                <a:tableStyleId>{073A0DAA-6AF3-43AB-8588-CEC1D06C72B9}</a:tableStyleId>
              </a:tblPr>
              <a:tblGrid>
                <a:gridCol w="833378">
                  <a:extLst>
                    <a:ext uri="{9D8B030D-6E8A-4147-A177-3AD203B41FA5}">
                      <a16:colId xmlns:a16="http://schemas.microsoft.com/office/drawing/2014/main" val="20000"/>
                    </a:ext>
                  </a:extLst>
                </a:gridCol>
                <a:gridCol w="2776873">
                  <a:extLst>
                    <a:ext uri="{9D8B030D-6E8A-4147-A177-3AD203B41FA5}">
                      <a16:colId xmlns:a16="http://schemas.microsoft.com/office/drawing/2014/main" val="20001"/>
                    </a:ext>
                  </a:extLst>
                </a:gridCol>
                <a:gridCol w="2918634">
                  <a:extLst>
                    <a:ext uri="{9D8B030D-6E8A-4147-A177-3AD203B41FA5}">
                      <a16:colId xmlns:a16="http://schemas.microsoft.com/office/drawing/2014/main" val="20002"/>
                    </a:ext>
                  </a:extLst>
                </a:gridCol>
                <a:gridCol w="1795605">
                  <a:extLst>
                    <a:ext uri="{9D8B030D-6E8A-4147-A177-3AD203B41FA5}">
                      <a16:colId xmlns:a16="http://schemas.microsoft.com/office/drawing/2014/main" val="20003"/>
                    </a:ext>
                  </a:extLst>
                </a:gridCol>
                <a:gridCol w="2639684">
                  <a:extLst>
                    <a:ext uri="{9D8B030D-6E8A-4147-A177-3AD203B41FA5}">
                      <a16:colId xmlns:a16="http://schemas.microsoft.com/office/drawing/2014/main" val="20004"/>
                    </a:ext>
                  </a:extLst>
                </a:gridCol>
              </a:tblGrid>
              <a:tr h="693238">
                <a:tc>
                  <a:txBody>
                    <a:bodyPr/>
                    <a:lstStyle/>
                    <a:p>
                      <a:pPr algn="ctr"/>
                      <a:r>
                        <a:rPr lang="en-IN" sz="1100" dirty="0">
                          <a:latin typeface="Times New Roman" panose="02020603050405020304" pitchFamily="18" charset="0"/>
                          <a:cs typeface="Times New Roman" panose="02020603050405020304" pitchFamily="18" charset="0"/>
                        </a:rPr>
                        <a:t>S. No</a:t>
                      </a:r>
                    </a:p>
                  </a:txBody>
                  <a:tcPr/>
                </a:tc>
                <a:tc>
                  <a:txBody>
                    <a:bodyPr/>
                    <a:lstStyle/>
                    <a:p>
                      <a:pPr algn="ctr"/>
                      <a:r>
                        <a:rPr lang="en-IN" sz="1100" dirty="0">
                          <a:latin typeface="Times New Roman" panose="02020603050405020304" pitchFamily="18" charset="0"/>
                          <a:cs typeface="Times New Roman" panose="02020603050405020304" pitchFamily="18" charset="0"/>
                        </a:rPr>
                        <a:t>Name of the research paper</a:t>
                      </a:r>
                    </a:p>
                  </a:txBody>
                  <a:tcPr/>
                </a:tc>
                <a:tc>
                  <a:txBody>
                    <a:bodyPr/>
                    <a:lstStyle/>
                    <a:p>
                      <a:pPr algn="ctr"/>
                      <a:r>
                        <a:rPr lang="en-IN" sz="1100" dirty="0">
                          <a:latin typeface="Times New Roman" panose="02020603050405020304" pitchFamily="18" charset="0"/>
                          <a:cs typeface="Times New Roman" panose="02020603050405020304" pitchFamily="18" charset="0"/>
                        </a:rPr>
                        <a:t>Author name</a:t>
                      </a:r>
                    </a:p>
                  </a:txBody>
                  <a:tcPr/>
                </a:tc>
                <a:tc>
                  <a:txBody>
                    <a:bodyPr/>
                    <a:lstStyle/>
                    <a:p>
                      <a:pPr algn="ctr"/>
                      <a:r>
                        <a:rPr lang="en-IN" sz="1100" dirty="0">
                          <a:latin typeface="Times New Roman" panose="02020603050405020304" pitchFamily="18" charset="0"/>
                          <a:cs typeface="Times New Roman" panose="02020603050405020304" pitchFamily="18" charset="0"/>
                        </a:rPr>
                        <a:t>Technologies used</a:t>
                      </a:r>
                    </a:p>
                  </a:txBody>
                  <a:tcPr/>
                </a:tc>
                <a:tc>
                  <a:txBody>
                    <a:bodyPr/>
                    <a:lstStyle/>
                    <a:p>
                      <a:pPr algn="ctr"/>
                      <a:r>
                        <a:rPr lang="en-IN" sz="1100" dirty="0">
                          <a:latin typeface="Times New Roman" panose="02020603050405020304" pitchFamily="18" charset="0"/>
                          <a:cs typeface="Times New Roman" panose="02020603050405020304" pitchFamily="18" charset="0"/>
                        </a:rPr>
                        <a:t>Advantages/ Disadvantages</a:t>
                      </a:r>
                    </a:p>
                  </a:txBody>
                  <a:tcPr/>
                </a:tc>
                <a:extLst>
                  <a:ext uri="{0D108BD9-81ED-4DB2-BD59-A6C34878D82A}">
                    <a16:rowId xmlns:a16="http://schemas.microsoft.com/office/drawing/2014/main" val="10000"/>
                  </a:ext>
                </a:extLst>
              </a:tr>
              <a:tr h="1604574">
                <a:tc>
                  <a:txBody>
                    <a:bodyPr/>
                    <a:lstStyle/>
                    <a:p>
                      <a:r>
                        <a:rPr lang="en-US" sz="1100" dirty="0">
                          <a:latin typeface="Times New Roman" panose="02020603050405020304" pitchFamily="18" charset="0"/>
                          <a:cs typeface="Times New Roman" panose="02020603050405020304" pitchFamily="18" charset="0"/>
                        </a:rPr>
                        <a:t>4</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The machine learning life cycle and the cloud: implications for drug discovery, 2021.</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Ola Spjuth, Jens Fridb and Andreas Hellander</a:t>
                      </a:r>
                      <a:endParaRPr lang="en-IN" sz="11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err="1">
                          <a:latin typeface="Times New Roman" panose="02020603050405020304" pitchFamily="18" charset="0"/>
                          <a:cs typeface="Times New Roman" panose="02020603050405020304" pitchFamily="18" charset="0"/>
                        </a:rPr>
                        <a:t>MLOps</a:t>
                      </a:r>
                      <a:r>
                        <a:rPr lang="en-IN" sz="1100" dirty="0">
                          <a:latin typeface="Times New Roman" panose="02020603050405020304" pitchFamily="18" charset="0"/>
                          <a:cs typeface="Times New Roman" panose="02020603050405020304" pitchFamily="18" charset="0"/>
                        </a:rPr>
                        <a:t>, Deep Neural Networks, Cloud computing.</a:t>
                      </a:r>
                    </a:p>
                  </a:txBody>
                  <a:tcPr/>
                </a:tc>
                <a:tc>
                  <a:txBody>
                    <a:bodyPr/>
                    <a:lstStyle/>
                    <a:p>
                      <a:r>
                        <a:rPr lang="en-IN" sz="1100" dirty="0">
                          <a:latin typeface="Times New Roman" panose="02020603050405020304" pitchFamily="18" charset="0"/>
                          <a:cs typeface="Times New Roman" panose="02020603050405020304" pitchFamily="18" charset="0"/>
                        </a:rPr>
                        <a:t>Advantages: By using </a:t>
                      </a:r>
                      <a:r>
                        <a:rPr lang="en-IN" sz="1100" dirty="0" err="1">
                          <a:latin typeface="Times New Roman" panose="02020603050405020304" pitchFamily="18" charset="0"/>
                          <a:cs typeface="Times New Roman" panose="02020603050405020304" pitchFamily="18" charset="0"/>
                        </a:rPr>
                        <a:t>MLOps</a:t>
                      </a:r>
                      <a:r>
                        <a:rPr lang="en-IN" sz="1100" dirty="0">
                          <a:latin typeface="Times New Roman" panose="02020603050405020304" pitchFamily="18" charset="0"/>
                          <a:cs typeface="Times New Roman" panose="02020603050405020304" pitchFamily="18" charset="0"/>
                        </a:rPr>
                        <a:t> it </a:t>
                      </a:r>
                      <a:r>
                        <a:rPr lang="en-US" sz="1100" dirty="0">
                          <a:latin typeface="Times New Roman" panose="02020603050405020304" pitchFamily="18" charset="0"/>
                          <a:cs typeface="Times New Roman" panose="02020603050405020304" pitchFamily="18" charset="0"/>
                        </a:rPr>
                        <a:t>gives </a:t>
                      </a:r>
                      <a:r>
                        <a:rPr lang="en-US" sz="1100" dirty="0"/>
                        <a:t>support at all stages in the ML modeling lifecycle.</a:t>
                      </a:r>
                    </a:p>
                    <a:p>
                      <a:r>
                        <a:rPr lang="en-US" sz="1100" dirty="0">
                          <a:latin typeface="Times New Roman" panose="02020603050405020304" pitchFamily="18" charset="0"/>
                          <a:cs typeface="Times New Roman" panose="02020603050405020304" pitchFamily="18" charset="0"/>
                        </a:rPr>
                        <a:t>Disadvantages: We need to build trust for collecting sensitive data from different sources.</a:t>
                      </a:r>
                    </a:p>
                  </a:txBody>
                  <a:tcPr/>
                </a:tc>
                <a:extLst>
                  <a:ext uri="{0D108BD9-81ED-4DB2-BD59-A6C34878D82A}">
                    <a16:rowId xmlns:a16="http://schemas.microsoft.com/office/drawing/2014/main" val="3294725831"/>
                  </a:ext>
                </a:extLst>
              </a:tr>
              <a:tr h="1299562">
                <a:tc>
                  <a:txBody>
                    <a:bodyPr/>
                    <a:lstStyle/>
                    <a:p>
                      <a:r>
                        <a:rPr lang="en-IN" sz="1100" dirty="0">
                          <a:latin typeface="Times New Roman" panose="02020603050405020304" pitchFamily="18" charset="0"/>
                          <a:cs typeface="Times New Roman" panose="02020603050405020304" pitchFamily="18" charset="0"/>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kern="1200" dirty="0">
                          <a:solidFill>
                            <a:schemeClr val="dk1"/>
                          </a:solidFill>
                          <a:effectLst/>
                          <a:latin typeface="+mn-lt"/>
                          <a:ea typeface="+mn-ea"/>
                          <a:cs typeface="+mn-cs"/>
                        </a:rPr>
                        <a:t>A Data Quality-Driven View of </a:t>
                      </a:r>
                      <a:r>
                        <a:rPr lang="en-US" sz="1100" b="0" kern="1200" dirty="0" err="1">
                          <a:solidFill>
                            <a:schemeClr val="dk1"/>
                          </a:solidFill>
                          <a:effectLst/>
                          <a:latin typeface="+mn-lt"/>
                          <a:ea typeface="+mn-ea"/>
                          <a:cs typeface="+mn-cs"/>
                        </a:rPr>
                        <a:t>MLOps</a:t>
                      </a:r>
                      <a:r>
                        <a:rPr lang="en-US" sz="1100" b="0" kern="1200" dirty="0">
                          <a:solidFill>
                            <a:schemeClr val="dk1"/>
                          </a:solidFill>
                          <a:effectLst/>
                          <a:latin typeface="+mn-lt"/>
                          <a:ea typeface="+mn-ea"/>
                          <a:cs typeface="+mn-cs"/>
                        </a:rPr>
                        <a:t>, 2021.</a:t>
                      </a:r>
                      <a:endParaRPr lang="en-IN" sz="1100" b="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100" dirty="0"/>
                        <a:t>.</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100" kern="1200" dirty="0">
                          <a:solidFill>
                            <a:schemeClr val="dk1"/>
                          </a:solidFill>
                          <a:effectLst/>
                          <a:latin typeface="+mn-lt"/>
                          <a:ea typeface="+mn-ea"/>
                          <a:cs typeface="+mn-cs"/>
                        </a:rPr>
                        <a:t>cedric.renggli, luka.rimanic, nezihe.guerel, bojan.karlas, ce.zhang.</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CI/CD-Continuous integration and Continuous delivery, DevOps</a:t>
                      </a:r>
                    </a:p>
                  </a:txBody>
                  <a:tcPr/>
                </a:tc>
                <a:tc>
                  <a:txBody>
                    <a:bodyPr/>
                    <a:lstStyle/>
                    <a:p>
                      <a:r>
                        <a:rPr lang="en-IN" sz="1100" dirty="0">
                          <a:latin typeface="Times New Roman" panose="02020603050405020304" pitchFamily="18" charset="0"/>
                          <a:cs typeface="Times New Roman" panose="02020603050405020304" pitchFamily="18" charset="0"/>
                        </a:rPr>
                        <a:t>Advantages: It improves the quality of the model.</a:t>
                      </a:r>
                    </a:p>
                    <a:p>
                      <a:r>
                        <a:rPr lang="en-IN" sz="1100" dirty="0">
                          <a:latin typeface="Times New Roman" panose="02020603050405020304" pitchFamily="18" charset="0"/>
                          <a:cs typeface="Times New Roman" panose="02020603050405020304" pitchFamily="18" charset="0"/>
                        </a:rPr>
                        <a:t>Disadvantages: Needs continuous monitoring.</a:t>
                      </a:r>
                    </a:p>
                    <a:p>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702398"/>
                  </a:ext>
                </a:extLst>
              </a:tr>
              <a:tr h="1768256">
                <a:tc>
                  <a:txBody>
                    <a:bodyPr/>
                    <a:lstStyle/>
                    <a:p>
                      <a:r>
                        <a:rPr lang="en-IN" sz="1100" dirty="0">
                          <a:latin typeface="Times New Roman" panose="02020603050405020304" pitchFamily="18" charset="0"/>
                          <a:cs typeface="Times New Roman" panose="02020603050405020304" pitchFamily="18" charset="0"/>
                        </a:rPr>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100" kern="1200" dirty="0">
                          <a:solidFill>
                            <a:schemeClr val="dk1"/>
                          </a:solidFill>
                          <a:effectLst/>
                          <a:latin typeface="Times New Roman" panose="02020603050405020304" pitchFamily="18" charset="0"/>
                          <a:ea typeface="+mn-ea"/>
                          <a:cs typeface="Times New Roman" panose="02020603050405020304" pitchFamily="18" charset="0"/>
                        </a:rPr>
                        <a:t>Challenges in the deployment and operation of machine learning in practice,2020.</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b="0" i="0" u="none" strike="noStrike" kern="1200" dirty="0">
                          <a:solidFill>
                            <a:schemeClr val="bg1"/>
                          </a:solidFill>
                          <a:effectLst/>
                          <a:latin typeface="Times New Roman" panose="02020603050405020304" pitchFamily="18" charset="0"/>
                          <a:ea typeface="+mn-ea"/>
                          <a:cs typeface="Times New Roman" panose="02020603050405020304" pitchFamily="18" charset="0"/>
                          <a:hlinkClick r:id="rId2">
                            <a:extLst>
                              <a:ext uri="{A12FA001-AC4F-418D-AE19-62706E023703}">
                                <ahyp:hlinkClr xmlns:ahyp="http://schemas.microsoft.com/office/drawing/2018/hyperlinkcolor" val="tx"/>
                              </a:ext>
                            </a:extLst>
                          </a:hlinkClick>
                        </a:rPr>
                        <a:t>Lucas Baier</a:t>
                      </a:r>
                      <a:r>
                        <a:rPr lang="en-IN" sz="1100" b="0" i="0" u="none" strike="noStrike" kern="1200" dirty="0">
                          <a:solidFill>
                            <a:schemeClr val="bg1"/>
                          </a:solidFill>
                          <a:effectLst/>
                          <a:latin typeface="Times New Roman" panose="02020603050405020304" pitchFamily="18" charset="0"/>
                          <a:ea typeface="+mn-ea"/>
                          <a:cs typeface="Times New Roman" panose="02020603050405020304" pitchFamily="18" charset="0"/>
                        </a:rPr>
                        <a:t>, </a:t>
                      </a:r>
                      <a:r>
                        <a:rPr lang="en-IN" sz="1100" b="0" i="0" u="none" strike="noStrike" kern="1200" dirty="0">
                          <a:solidFill>
                            <a:schemeClr val="bg1"/>
                          </a:solidFill>
                          <a:effectLst/>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Fabian </a:t>
                      </a:r>
                      <a:r>
                        <a:rPr lang="en-IN" sz="1100" b="0" i="0" u="none" strike="noStrike" kern="1200" dirty="0" err="1">
                          <a:solidFill>
                            <a:schemeClr val="bg1"/>
                          </a:solidFill>
                          <a:effectLst/>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Jöhren</a:t>
                      </a:r>
                      <a:endParaRPr lang="en-IN" sz="1100" b="0" i="0" u="none" kern="1200" dirty="0">
                        <a:solidFill>
                          <a:schemeClr val="bg1"/>
                        </a:solidFill>
                        <a:effectLst/>
                        <a:latin typeface="Times New Roman" panose="02020603050405020304" pitchFamily="18" charset="0"/>
                        <a:ea typeface="+mn-ea"/>
                        <a:cs typeface="Times New Roman" panose="02020603050405020304" pitchFamily="18" charset="0"/>
                      </a:endParaRPr>
                    </a:p>
                    <a:p>
                      <a:r>
                        <a:rPr lang="en-IN" sz="1100" b="0" i="0" u="none" strike="noStrike" kern="1200" dirty="0">
                          <a:solidFill>
                            <a:schemeClr val="bg1"/>
                          </a:solidFill>
                          <a:effectLst/>
                          <a:latin typeface="Times New Roman" panose="02020603050405020304" pitchFamily="18" charset="0"/>
                          <a:ea typeface="+mn-ea"/>
                          <a:cs typeface="Times New Roman" panose="02020603050405020304" pitchFamily="18" charset="0"/>
                          <a:hlinkClick r:id="rId4">
                            <a:extLst>
                              <a:ext uri="{A12FA001-AC4F-418D-AE19-62706E023703}">
                                <ahyp:hlinkClr xmlns:ahyp="http://schemas.microsoft.com/office/drawing/2018/hyperlinkcolor" val="tx"/>
                              </a:ext>
                            </a:extLst>
                          </a:hlinkClick>
                        </a:rPr>
                        <a:t>Stefan </a:t>
                      </a:r>
                      <a:r>
                        <a:rPr lang="en-IN" sz="1100" b="0" i="0" u="none" strike="noStrike" kern="1200" dirty="0" err="1">
                          <a:solidFill>
                            <a:schemeClr val="bg1"/>
                          </a:solidFill>
                          <a:effectLst/>
                          <a:latin typeface="Times New Roman" panose="02020603050405020304" pitchFamily="18" charset="0"/>
                          <a:ea typeface="+mn-ea"/>
                          <a:cs typeface="Times New Roman" panose="02020603050405020304" pitchFamily="18" charset="0"/>
                          <a:hlinkClick r:id="rId4">
                            <a:extLst>
                              <a:ext uri="{A12FA001-AC4F-418D-AE19-62706E023703}">
                                <ahyp:hlinkClr xmlns:ahyp="http://schemas.microsoft.com/office/drawing/2018/hyperlinkcolor" val="tx"/>
                              </a:ext>
                            </a:extLst>
                          </a:hlinkClick>
                        </a:rPr>
                        <a:t>Seebacher</a:t>
                      </a:r>
                      <a:endParaRPr lang="en-IN" sz="1100" b="0" i="0" u="none" kern="1200" dirty="0">
                        <a:solidFill>
                          <a:schemeClr val="bg1"/>
                        </a:solidFill>
                        <a:effectLst/>
                        <a:latin typeface="Times New Roman" panose="02020603050405020304" pitchFamily="18" charset="0"/>
                        <a:ea typeface="+mn-ea"/>
                        <a:cs typeface="Times New Roman" panose="02020603050405020304" pitchFamily="18" charset="0"/>
                      </a:endParaRPr>
                    </a:p>
                    <a:p>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100" dirty="0">
                          <a:latin typeface="Times New Roman" panose="02020603050405020304" pitchFamily="18" charset="0"/>
                          <a:cs typeface="Times New Roman" panose="02020603050405020304" pitchFamily="18" charset="0"/>
                        </a:rPr>
                        <a:t>CRISP-DM - standard process model for data analytics</a:t>
                      </a:r>
                      <a:r>
                        <a:rPr lang="en-US" sz="1100" dirty="0">
                          <a:latin typeface="Times New Roman" panose="02020603050405020304" pitchFamily="18" charset="0"/>
                          <a:cs typeface="Times New Roman" panose="02020603050405020304" pitchFamily="18" charset="0"/>
                        </a:rPr>
                        <a:t>, conducted literature reviews and structured interviews with ML practitioners.</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u="sng" kern="1200" dirty="0">
                          <a:solidFill>
                            <a:schemeClr val="dk1"/>
                          </a:solidFill>
                          <a:effectLst/>
                          <a:latin typeface="Times New Roman" panose="02020603050405020304" pitchFamily="18" charset="0"/>
                          <a:ea typeface="+mn-ea"/>
                          <a:cs typeface="Times New Roman" panose="02020603050405020304" pitchFamily="18" charset="0"/>
                        </a:rPr>
                        <a:t>Advantage</a:t>
                      </a:r>
                      <a:r>
                        <a:rPr lang="en-US" sz="1100" kern="1200" dirty="0">
                          <a:solidFill>
                            <a:schemeClr val="dk1"/>
                          </a:solidFill>
                          <a:effectLst/>
                          <a:latin typeface="Times New Roman" panose="02020603050405020304" pitchFamily="18" charset="0"/>
                          <a:ea typeface="+mn-ea"/>
                          <a:cs typeface="Times New Roman" panose="02020603050405020304" pitchFamily="18" charset="0"/>
                        </a:rPr>
                        <a:t>: pre – deployment, deployment, non - technical challenges are addressed clearly providing solutions.</a:t>
                      </a:r>
                      <a:endParaRPr lang="en-IN" sz="1100" kern="1200" dirty="0">
                        <a:solidFill>
                          <a:schemeClr val="dk1"/>
                        </a:solidFill>
                        <a:effectLst/>
                        <a:latin typeface="Times New Roman" panose="02020603050405020304" pitchFamily="18" charset="0"/>
                        <a:ea typeface="+mn-ea"/>
                        <a:cs typeface="Times New Roman" panose="02020603050405020304" pitchFamily="18" charset="0"/>
                      </a:endParaRPr>
                    </a:p>
                    <a:p>
                      <a:r>
                        <a:rPr lang="en-US" sz="1100" u="sng" kern="1200" dirty="0">
                          <a:solidFill>
                            <a:schemeClr val="dk1"/>
                          </a:solidFill>
                          <a:effectLst/>
                          <a:latin typeface="Times New Roman" panose="02020603050405020304" pitchFamily="18" charset="0"/>
                          <a:ea typeface="+mn-ea"/>
                          <a:cs typeface="Times New Roman" panose="02020603050405020304" pitchFamily="18" charset="0"/>
                        </a:rPr>
                        <a:t>Disadvantage</a:t>
                      </a:r>
                      <a:r>
                        <a:rPr lang="en-US" sz="1100" kern="1200" dirty="0">
                          <a:solidFill>
                            <a:schemeClr val="dk1"/>
                          </a:solidFill>
                          <a:effectLst/>
                          <a:latin typeface="Times New Roman" panose="02020603050405020304" pitchFamily="18" charset="0"/>
                          <a:ea typeface="+mn-ea"/>
                          <a:cs typeface="Times New Roman" panose="02020603050405020304" pitchFamily="18" charset="0"/>
                        </a:rPr>
                        <a:t>: could not cover all industry sectors, only limited statements can be made about the severity of one challenge in comparison to another.</a:t>
                      </a:r>
                      <a:endParaRPr lang="en-IN" sz="110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6889593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99616" y="244462"/>
            <a:ext cx="7551173" cy="912163"/>
          </a:xfrm>
        </p:spPr>
        <p:txBody>
          <a:bodyPr>
            <a:normAutofit/>
          </a:bodyPr>
          <a:lstStyle/>
          <a:p>
            <a:r>
              <a:rPr lang="en-US" dirty="0"/>
              <a:t>System Architecture</a:t>
            </a:r>
            <a:endParaRPr lang="en-IN" dirty="0"/>
          </a:p>
        </p:txBody>
      </p:sp>
      <p:sp>
        <p:nvSpPr>
          <p:cNvPr id="5" name="TextBox 4">
            <a:extLst>
              <a:ext uri="{FF2B5EF4-FFF2-40B4-BE49-F238E27FC236}">
                <a16:creationId xmlns:a16="http://schemas.microsoft.com/office/drawing/2014/main" id="{9055C126-5FBD-A73C-4C78-529EEA382E85}"/>
              </a:ext>
            </a:extLst>
          </p:cNvPr>
          <p:cNvSpPr txBox="1"/>
          <p:nvPr/>
        </p:nvSpPr>
        <p:spPr>
          <a:xfrm flipH="1">
            <a:off x="904875" y="1228666"/>
            <a:ext cx="10382249" cy="1200329"/>
          </a:xfrm>
          <a:prstGeom prst="rect">
            <a:avLst/>
          </a:prstGeom>
          <a:noFill/>
        </p:spPr>
        <p:txBody>
          <a:bodyPr wrap="square" rtlCol="0">
            <a:spAutoFit/>
          </a:bodyPr>
          <a:lstStyle/>
          <a:p>
            <a:r>
              <a:rPr lang="en-US" dirty="0">
                <a:solidFill>
                  <a:schemeClr val="bg1"/>
                </a:solidFill>
              </a:rPr>
              <a:t>Raw student data is ingested and processed by Apache Spark, then stored across two databases: SQLite for maintaining current profiles and </a:t>
            </a:r>
            <a:r>
              <a:rPr lang="en-US" dirty="0" err="1">
                <a:solidFill>
                  <a:schemeClr val="bg1"/>
                </a:solidFill>
              </a:rPr>
              <a:t>InfluxDB</a:t>
            </a:r>
            <a:r>
              <a:rPr lang="en-US" dirty="0">
                <a:solidFill>
                  <a:schemeClr val="bg1"/>
                </a:solidFill>
              </a:rPr>
              <a:t> for tracking historical trends. The dedicated Academic Burnout Engine continuously analyzes this dual-storage data to calculate individual Stress Indexes, instantly pushing high-risk alerts and metrics to the live Grafana and Flask Dashboard for administrator action.</a:t>
            </a:r>
            <a:endParaRPr lang="en-IN" sz="1400" dirty="0">
              <a:solidFill>
                <a:schemeClr val="bg1"/>
              </a:solidFill>
            </a:endParaRPr>
          </a:p>
        </p:txBody>
      </p:sp>
      <p:pic>
        <p:nvPicPr>
          <p:cNvPr id="6" name="Picture 5">
            <a:extLst>
              <a:ext uri="{FF2B5EF4-FFF2-40B4-BE49-F238E27FC236}">
                <a16:creationId xmlns:a16="http://schemas.microsoft.com/office/drawing/2014/main" id="{94004181-4B71-4E8D-52E4-FDE73B710622}"/>
              </a:ext>
            </a:extLst>
          </p:cNvPr>
          <p:cNvPicPr>
            <a:picLocks noChangeAspect="1"/>
          </p:cNvPicPr>
          <p:nvPr/>
        </p:nvPicPr>
        <p:blipFill>
          <a:blip r:embed="rId2"/>
          <a:stretch>
            <a:fillRect/>
          </a:stretch>
        </p:blipFill>
        <p:spPr>
          <a:xfrm>
            <a:off x="1528664" y="2501036"/>
            <a:ext cx="9134670" cy="3993502"/>
          </a:xfrm>
          <a:prstGeom prst="rect">
            <a:avLst/>
          </a:prstGeom>
        </p:spPr>
      </p:pic>
    </p:spTree>
    <p:extLst>
      <p:ext uri="{BB962C8B-B14F-4D97-AF65-F5344CB8AC3E}">
        <p14:creationId xmlns:p14="http://schemas.microsoft.com/office/powerpoint/2010/main" val="1667733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B12A1-D91A-9567-F858-18F8FD227B5A}"/>
              </a:ext>
            </a:extLst>
          </p:cNvPr>
          <p:cNvSpPr>
            <a:spLocks noGrp="1"/>
          </p:cNvSpPr>
          <p:nvPr>
            <p:ph type="ctrTitle"/>
          </p:nvPr>
        </p:nvSpPr>
        <p:spPr>
          <a:xfrm>
            <a:off x="1600200" y="380144"/>
            <a:ext cx="8991600" cy="999923"/>
          </a:xfrm>
        </p:spPr>
        <p:txBody>
          <a:bodyPr/>
          <a:lstStyle/>
          <a:p>
            <a:r>
              <a:rPr lang="en-IN" dirty="0" err="1"/>
              <a:t>Uml</a:t>
            </a:r>
            <a:r>
              <a:rPr lang="en-IN" dirty="0"/>
              <a:t> diagram</a:t>
            </a:r>
          </a:p>
        </p:txBody>
      </p:sp>
      <p:sp>
        <p:nvSpPr>
          <p:cNvPr id="4" name="AutoShape 2">
            <a:extLst>
              <a:ext uri="{FF2B5EF4-FFF2-40B4-BE49-F238E27FC236}">
                <a16:creationId xmlns:a16="http://schemas.microsoft.com/office/drawing/2014/main" id="{BE593EF0-4FF8-BE13-38C7-22F1DE33F852}"/>
              </a:ext>
            </a:extLst>
          </p:cNvPr>
          <p:cNvSpPr>
            <a:spLocks noGrp="1" noChangeAspect="1" noChangeArrowheads="1"/>
          </p:cNvSpPr>
          <p:nvPr>
            <p:ph type="subTitle" idx="1"/>
          </p:nvPr>
        </p:nvSpPr>
        <p:spPr bwMode="auto">
          <a:xfrm>
            <a:off x="1600200" y="2285482"/>
            <a:ext cx="8991600" cy="34845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6" name="Picture 5">
            <a:extLst>
              <a:ext uri="{FF2B5EF4-FFF2-40B4-BE49-F238E27FC236}">
                <a16:creationId xmlns:a16="http://schemas.microsoft.com/office/drawing/2014/main" id="{E35DA62B-58DF-44D7-9746-8E87A337EED5}"/>
              </a:ext>
            </a:extLst>
          </p:cNvPr>
          <p:cNvPicPr>
            <a:picLocks noChangeAspect="1"/>
          </p:cNvPicPr>
          <p:nvPr/>
        </p:nvPicPr>
        <p:blipFill>
          <a:blip r:embed="rId2"/>
          <a:stretch>
            <a:fillRect/>
          </a:stretch>
        </p:blipFill>
        <p:spPr>
          <a:xfrm>
            <a:off x="1771261" y="1882354"/>
            <a:ext cx="8649477" cy="4595502"/>
          </a:xfrm>
          <a:prstGeom prst="rect">
            <a:avLst/>
          </a:prstGeom>
        </p:spPr>
      </p:pic>
    </p:spTree>
    <p:extLst>
      <p:ext uri="{BB962C8B-B14F-4D97-AF65-F5344CB8AC3E}">
        <p14:creationId xmlns:p14="http://schemas.microsoft.com/office/powerpoint/2010/main" val="1445065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9666-4762-8632-DE15-1C167596B785}"/>
              </a:ext>
            </a:extLst>
          </p:cNvPr>
          <p:cNvSpPr>
            <a:spLocks noGrp="1"/>
          </p:cNvSpPr>
          <p:nvPr>
            <p:ph type="ctrTitle"/>
          </p:nvPr>
        </p:nvSpPr>
        <p:spPr>
          <a:xfrm>
            <a:off x="1600200" y="414868"/>
            <a:ext cx="8991600" cy="999066"/>
          </a:xfrm>
        </p:spPr>
        <p:txBody>
          <a:bodyPr/>
          <a:lstStyle/>
          <a:p>
            <a:r>
              <a:rPr lang="en-IN" dirty="0"/>
              <a:t>Activity diagram</a:t>
            </a:r>
          </a:p>
        </p:txBody>
      </p:sp>
      <p:sp>
        <p:nvSpPr>
          <p:cNvPr id="3" name="Subtitle 2">
            <a:extLst>
              <a:ext uri="{FF2B5EF4-FFF2-40B4-BE49-F238E27FC236}">
                <a16:creationId xmlns:a16="http://schemas.microsoft.com/office/drawing/2014/main" id="{1D05DB0B-82D3-C796-2751-3D25312A07F0}"/>
              </a:ext>
            </a:extLst>
          </p:cNvPr>
          <p:cNvSpPr>
            <a:spLocks noGrp="1"/>
          </p:cNvSpPr>
          <p:nvPr>
            <p:ph type="subTitle" idx="1"/>
          </p:nvPr>
        </p:nvSpPr>
        <p:spPr>
          <a:xfrm>
            <a:off x="2695194" y="2015067"/>
            <a:ext cx="6801612" cy="3577371"/>
          </a:xfrm>
        </p:spPr>
        <p:txBody>
          <a:bodyPr/>
          <a:lstStyle/>
          <a:p>
            <a:endParaRPr lang="en-IN" dirty="0"/>
          </a:p>
        </p:txBody>
      </p:sp>
      <p:pic>
        <p:nvPicPr>
          <p:cNvPr id="12" name="Picture 11">
            <a:extLst>
              <a:ext uri="{FF2B5EF4-FFF2-40B4-BE49-F238E27FC236}">
                <a16:creationId xmlns:a16="http://schemas.microsoft.com/office/drawing/2014/main" id="{5CB115AB-89B3-6D64-1EA9-5B298277ECE9}"/>
              </a:ext>
            </a:extLst>
          </p:cNvPr>
          <p:cNvPicPr>
            <a:picLocks noChangeAspect="1"/>
          </p:cNvPicPr>
          <p:nvPr/>
        </p:nvPicPr>
        <p:blipFill>
          <a:blip r:embed="rId2"/>
          <a:stretch>
            <a:fillRect/>
          </a:stretch>
        </p:blipFill>
        <p:spPr>
          <a:xfrm>
            <a:off x="2695194" y="1576528"/>
            <a:ext cx="6868684" cy="5063466"/>
          </a:xfrm>
          <a:prstGeom prst="rect">
            <a:avLst/>
          </a:prstGeom>
        </p:spPr>
      </p:pic>
    </p:spTree>
    <p:extLst>
      <p:ext uri="{BB962C8B-B14F-4D97-AF65-F5344CB8AC3E}">
        <p14:creationId xmlns:p14="http://schemas.microsoft.com/office/powerpoint/2010/main" val="2547450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AE257-8A76-FAE5-BE9D-AF1C24333988}"/>
              </a:ext>
            </a:extLst>
          </p:cNvPr>
          <p:cNvSpPr>
            <a:spLocks noGrp="1"/>
          </p:cNvSpPr>
          <p:nvPr>
            <p:ph type="ctrTitle"/>
          </p:nvPr>
        </p:nvSpPr>
        <p:spPr>
          <a:xfrm>
            <a:off x="1600200" y="347134"/>
            <a:ext cx="8991600" cy="1239894"/>
          </a:xfrm>
        </p:spPr>
        <p:txBody>
          <a:bodyPr/>
          <a:lstStyle/>
          <a:p>
            <a:r>
              <a:rPr lang="en-IN" dirty="0"/>
              <a:t>Module design</a:t>
            </a:r>
          </a:p>
        </p:txBody>
      </p:sp>
      <p:sp>
        <p:nvSpPr>
          <p:cNvPr id="3" name="Subtitle 2">
            <a:extLst>
              <a:ext uri="{FF2B5EF4-FFF2-40B4-BE49-F238E27FC236}">
                <a16:creationId xmlns:a16="http://schemas.microsoft.com/office/drawing/2014/main" id="{24F7CD92-4B9D-13AF-4079-A1B121EEB3BF}"/>
              </a:ext>
            </a:extLst>
          </p:cNvPr>
          <p:cNvSpPr>
            <a:spLocks noGrp="1"/>
          </p:cNvSpPr>
          <p:nvPr>
            <p:ph type="subTitle" idx="1"/>
          </p:nvPr>
        </p:nvSpPr>
        <p:spPr/>
        <p:txBody>
          <a:bodyPr/>
          <a:lstStyle/>
          <a:p>
            <a:endParaRPr lang="en-IN"/>
          </a:p>
        </p:txBody>
      </p:sp>
      <p:pic>
        <p:nvPicPr>
          <p:cNvPr id="6" name="Picture 5">
            <a:extLst>
              <a:ext uri="{FF2B5EF4-FFF2-40B4-BE49-F238E27FC236}">
                <a16:creationId xmlns:a16="http://schemas.microsoft.com/office/drawing/2014/main" id="{82DA2DB4-5549-DD1D-01A3-29669BC47A1A}"/>
              </a:ext>
            </a:extLst>
          </p:cNvPr>
          <p:cNvPicPr>
            <a:picLocks noChangeAspect="1"/>
          </p:cNvPicPr>
          <p:nvPr/>
        </p:nvPicPr>
        <p:blipFill>
          <a:blip r:embed="rId2"/>
          <a:stretch>
            <a:fillRect/>
          </a:stretch>
        </p:blipFill>
        <p:spPr>
          <a:xfrm>
            <a:off x="3349691" y="1744826"/>
            <a:ext cx="5738326" cy="5029199"/>
          </a:xfrm>
          <a:prstGeom prst="rect">
            <a:avLst/>
          </a:prstGeom>
        </p:spPr>
      </p:pic>
    </p:spTree>
    <p:extLst>
      <p:ext uri="{BB962C8B-B14F-4D97-AF65-F5344CB8AC3E}">
        <p14:creationId xmlns:p14="http://schemas.microsoft.com/office/powerpoint/2010/main" val="2185265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38D9977-3599-9D98-5444-768A6924E2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899757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1181</TotalTime>
  <Words>1361</Words>
  <Application>Microsoft Office PowerPoint</Application>
  <PresentationFormat>Widescreen</PresentationFormat>
  <Paragraphs>141</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Gill Sans MT</vt:lpstr>
      <vt:lpstr>Times New Roman</vt:lpstr>
      <vt:lpstr>Wingdings</vt:lpstr>
      <vt:lpstr>Parcel</vt:lpstr>
      <vt:lpstr>Education and student performance using ai tools</vt:lpstr>
      <vt:lpstr>Table of contents</vt:lpstr>
      <vt:lpstr>Review – 2 comments addressed</vt:lpstr>
      <vt:lpstr>ABSTRACT</vt:lpstr>
      <vt:lpstr>Introduction</vt:lpstr>
      <vt:lpstr>Existing system</vt:lpstr>
      <vt:lpstr>Proposed system</vt:lpstr>
      <vt:lpstr>Objectives</vt:lpstr>
      <vt:lpstr>Software requirements</vt:lpstr>
      <vt:lpstr>Hardware requirements</vt:lpstr>
      <vt:lpstr>FUNCTIONAL  requirements</vt:lpstr>
      <vt:lpstr>Non - functional requirements</vt:lpstr>
      <vt:lpstr>Literature survey</vt:lpstr>
      <vt:lpstr>Thank you</vt:lpstr>
      <vt:lpstr>System Architecture</vt:lpstr>
      <vt:lpstr>Uml diagram</vt:lpstr>
      <vt:lpstr>Activity diagram</vt:lpstr>
      <vt:lpstr>Module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Preserving performance of ml models using MLOps</dc:title>
  <dc:creator>Varshika Dasari</dc:creator>
  <cp:lastModifiedBy>chinna ummadising</cp:lastModifiedBy>
  <cp:revision>21</cp:revision>
  <dcterms:created xsi:type="dcterms:W3CDTF">2022-09-15T19:17:00Z</dcterms:created>
  <dcterms:modified xsi:type="dcterms:W3CDTF">2026-03-11T02:56:24Z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3936C35BB73A4955AF09C77BF7191492</vt:lpwstr>
  </property>
  <property fmtid="{D5CDD505-2E9C-101B-9397-08002B2CF9AE}" pid="3" name="KSOProductBuildVer">
    <vt:lpwstr>1033-11.2.0.11306</vt:lpwstr>
  </property>
</Properties>
</file>