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67" r:id="rId5"/>
    <p:sldId id="258" r:id="rId6"/>
    <p:sldId id="259" r:id="rId7"/>
    <p:sldId id="261" r:id="rId8"/>
    <p:sldId id="266" r:id="rId9"/>
    <p:sldId id="260" r:id="rId10"/>
    <p:sldId id="262" r:id="rId11"/>
    <p:sldId id="263" r:id="rId12"/>
    <p:sldId id="264" r:id="rId13"/>
    <p:sldId id="265" r:id="rId14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96" autoAdjust="0"/>
  </p:normalViewPr>
  <p:slideViewPr>
    <p:cSldViewPr snapToGrid="0">
      <p:cViewPr varScale="1">
        <p:scale>
          <a:sx n="78" d="100"/>
          <a:sy n="78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26-02-2026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26-02-2026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26-02-2026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26-02-2026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26-02-2026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26-02-2026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26-02-2026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26-02-2026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square.com/article/rs-3462413/v2" TargetMode="External"/><Relationship Id="rId7" Type="http://schemas.openxmlformats.org/officeDocument/2006/relationships/hyperlink" Target="https://ieeexplore.ieee.org/abstract/document/10049168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007/s10462-022-10155-y" TargetMode="External"/><Relationship Id="rId5" Type="http://schemas.openxmlformats.org/officeDocument/2006/relationships/hyperlink" Target="https://link.springer.com/article/10.1007/s12525-016-0219-0" TargetMode="External"/><Relationship Id="rId4" Type="http://schemas.openxmlformats.org/officeDocument/2006/relationships/hyperlink" Target="https://www.designsociety.org/publication/43483/the_online_pbl_project-based_learning_education_system_using_ai_artificial_intelligenc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Students-Performance-Prediction-Using-Decision-Tree-Raut-Nichat/e156477e38ffc17e335588339c06376510699252" TargetMode="External"/><Relationship Id="rId2" Type="http://schemas.openxmlformats.org/officeDocument/2006/relationships/hyperlink" Target="https://www.researchgate.net/publication/378278252_Students'_performance_prediction_employing_Decision_Tre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www.mecs-press.org/ijmecs/ijmecs-v7-n5/IJMECS-V7-N5-8.pdf" TargetMode="External"/><Relationship Id="rId4" Type="http://schemas.openxmlformats.org/officeDocument/2006/relationships/hyperlink" Target="https://www.semanticscholar.org/paper/Big-data-analytics-on-Apache-Spark-Salloum-Dautov/8207f2a1768461460f38b0056910606992523588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90" y="300355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Technologies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E-Commerce User Analytics and Recommendation System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1747336"/>
            <a:ext cx="10515600" cy="3592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No- 14</a:t>
            </a:r>
          </a:p>
          <a:p>
            <a:pPr marL="0" indent="0" algn="ctr">
              <a:buNone/>
            </a:pPr>
            <a:r>
              <a:rPr lang="en-IN" sz="2000" b="1" dirty="0"/>
              <a:t>Roll No		Name</a:t>
            </a:r>
          </a:p>
          <a:p>
            <a:pPr marL="0" indent="0" algn="ctr">
              <a:buNone/>
            </a:pPr>
            <a:r>
              <a:rPr lang="en-IN" sz="2000" b="1" dirty="0" err="1"/>
              <a:t>u.chandrahas</a:t>
            </a:r>
            <a:r>
              <a:rPr lang="en-IN" sz="2000" b="1" dirty="0"/>
              <a:t>              2320030041</a:t>
            </a:r>
          </a:p>
          <a:p>
            <a:pPr marL="0" indent="0" algn="ctr">
              <a:buNone/>
            </a:pPr>
            <a:r>
              <a:rPr lang="en-IN" sz="2000" b="1" dirty="0"/>
              <a:t> </a:t>
            </a:r>
            <a:r>
              <a:rPr lang="en-IN" sz="2000" b="1" dirty="0" err="1"/>
              <a:t>S.pardhu</a:t>
            </a:r>
            <a:r>
              <a:rPr lang="en-IN" sz="2000" b="1" dirty="0"/>
              <a:t>                      23200300226</a:t>
            </a:r>
          </a:p>
          <a:p>
            <a:pPr marL="0" indent="0" algn="ctr">
              <a:buNone/>
            </a:pPr>
            <a:r>
              <a:rPr lang="en-IN" sz="2000" b="1" dirty="0" err="1"/>
              <a:t>d.Nagarjuna</a:t>
            </a:r>
            <a:r>
              <a:rPr lang="en-IN" sz="2000" b="1" dirty="0"/>
              <a:t>                 2320030482</a:t>
            </a: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26-02-2026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1057275" y="302821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     </a:t>
            </a: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09409" y="1718552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Abstract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Objectives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Literature Survey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References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BCCE-9C1B-EECA-DF25-A9601E14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8052-8D29-9586-CD94-15FE513AC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0447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In modern educational institutions, massive volumes of student performance data such as attendance, </a:t>
            </a:r>
            <a:r>
              <a:rPr lang="en-US" sz="2000"/>
              <a:t>internal marks, </a:t>
            </a:r>
            <a:r>
              <a:rPr lang="en-US" sz="2000" dirty="0"/>
              <a:t>and behavioral metrics are generated continuously. Traditional systems are unable to efficiently analyze this high-volume data to identify at-risk students or predict academic outcomes before final evaluations. This project presents a </a:t>
            </a:r>
            <a:r>
              <a:rPr lang="en-US" sz="2000" b="1" dirty="0"/>
              <a:t>Strategic AI-Driven Academic Intelligence &amp; Intervention Dashboard</a:t>
            </a:r>
            <a:r>
              <a:rPr lang="en-US" sz="2000" dirty="0"/>
              <a:t> using Big Data technologies such as Apache Spark and Machine Learning. The system ingests large-scale academic datasets, processes them through a distributed Medallion data architecture, and applies predictive modeling to generate actionable student insights. Processed metrics are visualized through interactive dashboards and used to instantly automate the production of professional </a:t>
            </a:r>
            <a:r>
              <a:rPr lang="en-US" sz="2000" b="1" dirty="0"/>
              <a:t>PDF reports and documentation</a:t>
            </a:r>
            <a:r>
              <a:rPr lang="en-US" sz="2000" dirty="0"/>
              <a:t>. The proposed solution demonstrates a scalable, fault-tolerant approach to educational management, supporting data-driven decision-making to improve student success rates in high-scale academic environments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910A-B84F-EC84-5E58-2EA53403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B476-645A-19AA-89D8-BE0A057C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7C66-A72D-0EC5-2F8E-2FB74887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5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070"/>
            <a:ext cx="10515600" cy="50029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This project proposes a </a:t>
            </a:r>
            <a:r>
              <a:rPr lang="en-US" b="1" dirty="0"/>
              <a:t>Predictive Student Analytics &amp; Performance Dashboard</a:t>
            </a:r>
            <a:r>
              <a:rPr lang="en-US" dirty="0"/>
              <a:t> using </a:t>
            </a:r>
            <a:r>
              <a:rPr lang="en-US" b="1" dirty="0"/>
              <a:t>Big Data</a:t>
            </a:r>
            <a:r>
              <a:rPr lang="en-US" dirty="0"/>
              <a:t> technologies like </a:t>
            </a:r>
            <a:r>
              <a:rPr lang="en-US" b="1" dirty="0"/>
              <a:t>Apache Spark</a:t>
            </a:r>
            <a:r>
              <a:rPr lang="en-US" dirty="0"/>
              <a:t> and </a:t>
            </a:r>
            <a:r>
              <a:rPr lang="en-US" b="1" dirty="0"/>
              <a:t>Parquet columnar storage</a:t>
            </a:r>
            <a:r>
              <a:rPr lang="en-US" dirty="0"/>
              <a:t>. The system processes academic data in a distributed environment and utilizes </a:t>
            </a:r>
            <a:r>
              <a:rPr lang="en-US" b="1" dirty="0"/>
              <a:t>Machine Learning (Decision Tree)</a:t>
            </a:r>
            <a:r>
              <a:rPr lang="en-US" dirty="0"/>
              <a:t> models to provide live performance outcomes and visual insights through a web-based dashboard, enabling faster and more data-driven administrative decisions.</a:t>
            </a:r>
          </a:p>
          <a:p>
            <a:pPr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5A056B-3733-D5B7-ACD2-B35B5268AF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897" y="1651844"/>
            <a:ext cx="10242099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real-time data pipeline for e-commerce user activity.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collect and process high-volume streaming data using Apache Kafka.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distributed data processing using Apache Spark.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streaming data with structured demographic data.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lang="en-US" altLang="en-US" sz="2400" dirty="0">
                <a:latin typeface="Arial" panose="020B0604020202020204" pitchFamily="34" charset="0"/>
              </a:rPr>
              <a:t>use ML Algorithms for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an interactive dashboard for real-time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36688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Data Ingestion:</a:t>
            </a:r>
            <a:r>
              <a:rPr lang="en-US" dirty="0"/>
              <a:t> Academic records and student engagement metrics such as attendance and assessment scores are processed using an </a:t>
            </a:r>
            <a:r>
              <a:rPr lang="en-US" b="1" dirty="0"/>
              <a:t>Apache Spark ETL pipeline</a:t>
            </a:r>
            <a:r>
              <a:rPr lang="en-US" dirty="0"/>
              <a:t>.</a:t>
            </a:r>
          </a:p>
          <a:p>
            <a:r>
              <a:rPr lang="en-US" b="1" dirty="0"/>
              <a:t>Data Integration:</a:t>
            </a:r>
            <a:r>
              <a:rPr lang="en-US" dirty="0"/>
              <a:t> High-velocity performance data is aggregated into a </a:t>
            </a:r>
            <a:r>
              <a:rPr lang="en-US" b="1" dirty="0"/>
              <a:t>Parquet Gold Layer</a:t>
            </a:r>
            <a:r>
              <a:rPr lang="en-US" dirty="0"/>
              <a:t> and integrated with relational student profiles stored in </a:t>
            </a:r>
            <a:r>
              <a:rPr lang="en-US" b="1" dirty="0"/>
              <a:t>SQLite</a:t>
            </a:r>
            <a:r>
              <a:rPr lang="en-US" dirty="0"/>
              <a:t>.</a:t>
            </a:r>
          </a:p>
          <a:p>
            <a:r>
              <a:rPr lang="en-US" b="1" dirty="0"/>
              <a:t>Machine Learning Models:</a:t>
            </a:r>
            <a:endParaRPr lang="en-US" dirty="0"/>
          </a:p>
          <a:p>
            <a:pPr lvl="1"/>
            <a:r>
              <a:rPr lang="en-US" b="1" dirty="0"/>
              <a:t>Decision Tree Classifier</a:t>
            </a:r>
            <a:r>
              <a:rPr lang="en-US" dirty="0"/>
              <a:t> $\</a:t>
            </a:r>
            <a:r>
              <a:rPr lang="en-US" dirty="0" err="1"/>
              <a:t>rightarrow</a:t>
            </a:r>
            <a:r>
              <a:rPr lang="en-US" dirty="0"/>
              <a:t>$ Predict student final grade and academic outcome.</a:t>
            </a:r>
          </a:p>
          <a:p>
            <a:pPr lvl="1"/>
            <a:r>
              <a:rPr lang="en-US" b="1" dirty="0"/>
              <a:t>Feature Importance Analysis</a:t>
            </a:r>
            <a:r>
              <a:rPr lang="en-US" dirty="0"/>
              <a:t> $\</a:t>
            </a:r>
            <a:r>
              <a:rPr lang="en-US" dirty="0" err="1"/>
              <a:t>rightarrow</a:t>
            </a:r>
            <a:r>
              <a:rPr lang="en-US" dirty="0"/>
              <a:t>$ Identify critical drivers of success (e.g., Attendance vs. Marks).</a:t>
            </a:r>
          </a:p>
          <a:p>
            <a:pPr lvl="1"/>
            <a:r>
              <a:rPr lang="en-US" b="1" dirty="0"/>
              <a:t>Risk Classification</a:t>
            </a:r>
            <a:r>
              <a:rPr lang="en-US" dirty="0"/>
              <a:t> $\</a:t>
            </a:r>
            <a:r>
              <a:rPr lang="en-US" dirty="0" err="1"/>
              <a:t>rightarrow</a:t>
            </a:r>
            <a:r>
              <a:rPr lang="en-US" dirty="0"/>
              <a:t>$ Categorize students into performance zones (High Performer vs. At-Risk).</a:t>
            </a:r>
          </a:p>
          <a:p>
            <a:r>
              <a:rPr lang="en-US" b="1" dirty="0"/>
              <a:t>Storage:</a:t>
            </a:r>
            <a:r>
              <a:rPr lang="en-US" dirty="0"/>
              <a:t> Processed metrics and system ingestion rates are stored in </a:t>
            </a:r>
            <a:r>
              <a:rPr lang="en-US" b="1" dirty="0" err="1"/>
              <a:t>InfluxDB</a:t>
            </a:r>
            <a:r>
              <a:rPr lang="en-US" dirty="0"/>
              <a:t>, a time-series database optimized for auditing analytical workflows.</a:t>
            </a:r>
          </a:p>
          <a:p>
            <a:r>
              <a:rPr lang="en-US" b="1" dirty="0"/>
              <a:t>Visualization:</a:t>
            </a:r>
            <a:r>
              <a:rPr lang="en-US" dirty="0"/>
              <a:t> Real-time analytics are displayed through an </a:t>
            </a:r>
            <a:r>
              <a:rPr lang="en-US" b="1" dirty="0"/>
              <a:t>Interactive Dashboard (Chart.js)</a:t>
            </a:r>
            <a:r>
              <a:rPr lang="en-US" dirty="0"/>
              <a:t> and </a:t>
            </a:r>
            <a:r>
              <a:rPr lang="en-US" b="1" dirty="0"/>
              <a:t>Grafana</a:t>
            </a:r>
            <a:r>
              <a:rPr lang="en-US" dirty="0"/>
              <a:t> to provide live insights into departmental trends and student success rates.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1089-EEC9-4DC3-B156-F53ED5F1E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26-02-2026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6DDE4-1316-601E-7C5D-C2334E25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25E7-4C25-A439-BADF-F85935BA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44C41A-86B6-FC37-BF0D-236E88CDA316}"/>
              </a:ext>
            </a:extLst>
          </p:cNvPr>
          <p:cNvSpPr>
            <a:spLocks noGrp="1"/>
          </p:cNvSpPr>
          <p:nvPr/>
        </p:nvSpPr>
        <p:spPr>
          <a:xfrm>
            <a:off x="1981200" y="437492"/>
            <a:ext cx="8684172" cy="1312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(Block Diagram)</a:t>
            </a:r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3E4E9945-9FC0-A6E8-9900-2C65CDDB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867" y="1474838"/>
            <a:ext cx="4726274" cy="474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1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251" y="-315534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3A074C-637B-BCBD-F76E-942D03495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609047"/>
              </p:ext>
            </p:extLst>
          </p:nvPr>
        </p:nvGraphicFramePr>
        <p:xfrm>
          <a:off x="924567" y="760462"/>
          <a:ext cx="10868364" cy="5685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822">
                  <a:extLst>
                    <a:ext uri="{9D8B030D-6E8A-4147-A177-3AD203B41FA5}">
                      <a16:colId xmlns:a16="http://schemas.microsoft.com/office/drawing/2014/main" val="1350949089"/>
                    </a:ext>
                  </a:extLst>
                </a:gridCol>
                <a:gridCol w="2796514">
                  <a:extLst>
                    <a:ext uri="{9D8B030D-6E8A-4147-A177-3AD203B41FA5}">
                      <a16:colId xmlns:a16="http://schemas.microsoft.com/office/drawing/2014/main" val="3582922934"/>
                    </a:ext>
                  </a:extLst>
                </a:gridCol>
                <a:gridCol w="2796514">
                  <a:extLst>
                    <a:ext uri="{9D8B030D-6E8A-4147-A177-3AD203B41FA5}">
                      <a16:colId xmlns:a16="http://schemas.microsoft.com/office/drawing/2014/main" val="239154684"/>
                    </a:ext>
                  </a:extLst>
                </a:gridCol>
                <a:gridCol w="2796514">
                  <a:extLst>
                    <a:ext uri="{9D8B030D-6E8A-4147-A177-3AD203B41FA5}">
                      <a16:colId xmlns:a16="http://schemas.microsoft.com/office/drawing/2014/main" val="181447199"/>
                    </a:ext>
                  </a:extLst>
                </a:gridCol>
              </a:tblGrid>
              <a:tr h="498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Link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Journal/Conference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Drawbacks /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119911"/>
                  </a:ext>
                </a:extLst>
              </a:tr>
              <a:tr h="1067415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LINK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KHRITISH SWARGIARY</a:t>
                      </a:r>
                      <a:endParaRPr lang="en-IN" sz="10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Leveraging Artificial Intelligence for Enhanced Project Completion in Education</a:t>
                      </a:r>
                      <a:endParaRPr lang="en-IN" sz="1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Some proposed models require high memory and processing power, making them expensive for practical implementation.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009426"/>
                  </a:ext>
                </a:extLst>
              </a:tr>
              <a:tr h="90137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LINK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Ito,takao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ONLINE PBL (PROJECT-BASED LEARNING) EDUCATION SYSTEM USING AI (ARTIFICIAL INTELLIGENCE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ctr"/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Older survey; needs updates with deep learning and big data frameworks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949813"/>
                  </a:ext>
                </a:extLst>
              </a:tr>
              <a:tr h="90137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LINK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 err="1"/>
                        <a:t>Jiaz</a:t>
                      </a:r>
                      <a:r>
                        <a:rPr lang="en-US" sz="1200" dirty="0"/>
                        <a:t> khan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artificial intelligence approach to monitor student performance and devise preventive measures</a:t>
                      </a:r>
                    </a:p>
                    <a:p>
                      <a:pPr algn="ctr"/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Many studies assume clean data and do not handle missing, noisy, or inconsistent real-world data.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760005"/>
                  </a:ext>
                </a:extLst>
              </a:tr>
              <a:tr h="1067415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LINK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Pencheng</a:t>
                      </a:r>
                      <a:r>
                        <a:rPr lang="en-US" sz="1200" dirty="0"/>
                        <a:t> jiao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Artificial intelligence-enabled prediction model of student academic performance in online engineering education</a:t>
                      </a:r>
                    </a:p>
                    <a:p>
                      <a:pPr algn="ctr">
                        <a:buNone/>
                      </a:pPr>
                      <a:endParaRPr lang="en-IN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Research is often tested on a single dataset, which may not represent real-world data variety.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610591"/>
                  </a:ext>
                </a:extLst>
              </a:tr>
              <a:tr h="901373"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7"/>
                        </a:rPr>
                        <a:t>LINK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Jose </a:t>
                      </a:r>
                      <a:r>
                        <a:rPr lang="en-US" sz="1200" dirty="0" err="1"/>
                        <a:t>divaso’n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Artificial Intelligence Models for Assessing the Evaluation Process of Complex Student Project</a:t>
                      </a:r>
                    </a:p>
                    <a:p>
                      <a:pPr algn="ctr"/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 for sentiment analysis; doesn’t cover big data frameworks like Spark/Hadoop.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48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 fontScale="92500" lnSpcReduction="10000"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r>
              <a:rPr lang="en-IN" b="1" dirty="0"/>
              <a:t>Flask</a:t>
            </a:r>
            <a:r>
              <a:rPr lang="en-IN" dirty="0"/>
              <a:t> (Web Backend Framework)</a:t>
            </a:r>
          </a:p>
          <a:p>
            <a:r>
              <a:rPr lang="en-IN" b="1" dirty="0"/>
              <a:t>Apache Spark</a:t>
            </a:r>
            <a:r>
              <a:rPr lang="en-IN" dirty="0"/>
              <a:t> (Big Data Processing Engine)</a:t>
            </a:r>
          </a:p>
          <a:p>
            <a:r>
              <a:rPr lang="en-IN" b="1" dirty="0"/>
              <a:t>Parquet</a:t>
            </a:r>
            <a:r>
              <a:rPr lang="en-IN" dirty="0"/>
              <a:t> (High-Performance "Gold Layer" Data Format)</a:t>
            </a:r>
          </a:p>
          <a:p>
            <a:r>
              <a:rPr lang="en-IN" b="1" dirty="0"/>
              <a:t>Machine Learning</a:t>
            </a:r>
            <a:r>
              <a:rPr lang="en-IN" dirty="0"/>
              <a:t> (Decision Tree Classifier)</a:t>
            </a:r>
          </a:p>
          <a:p>
            <a:pPr marL="0" indent="0">
              <a:buNone/>
            </a:pPr>
            <a:r>
              <a:rPr lang="en-IN" b="1" dirty="0"/>
              <a:t>Scikit-learn</a:t>
            </a:r>
            <a:r>
              <a:rPr lang="en-IN" dirty="0"/>
              <a:t> (AI Model Training Library)</a:t>
            </a:r>
          </a:p>
          <a:p>
            <a:r>
              <a:rPr lang="en-IN" b="1" dirty="0"/>
              <a:t>Pandas</a:t>
            </a:r>
            <a:r>
              <a:rPr lang="en-IN" dirty="0"/>
              <a:t> (Data Manipulation &amp; Analysis)</a:t>
            </a:r>
          </a:p>
          <a:p>
            <a:r>
              <a:rPr lang="en-IN" b="1" dirty="0"/>
              <a:t>SQLite</a:t>
            </a:r>
            <a:r>
              <a:rPr lang="en-IN" dirty="0"/>
              <a:t> (Transactional Database)</a:t>
            </a:r>
          </a:p>
          <a:p>
            <a:r>
              <a:rPr lang="en-IN" b="1" dirty="0"/>
              <a:t>Chart.js</a:t>
            </a:r>
            <a:r>
              <a:rPr lang="en-IN" dirty="0"/>
              <a:t> (Interactive Frontend Visualizations)</a:t>
            </a:r>
          </a:p>
          <a:p>
            <a:r>
              <a:rPr lang="en-IN" b="1" dirty="0" err="1"/>
              <a:t>InfluxDB</a:t>
            </a:r>
            <a:r>
              <a:rPr lang="en-IN" dirty="0"/>
              <a:t> (Time-Series Database for Monitoring)</a:t>
            </a:r>
          </a:p>
          <a:p>
            <a:r>
              <a:rPr lang="en-IN" b="1" dirty="0"/>
              <a:t>Grafana</a:t>
            </a:r>
            <a:r>
              <a:rPr lang="en-IN" dirty="0"/>
              <a:t> (Infrastructure Performance Dashboards)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FF4D203-5CE7-AF14-5660-7056E1639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46061"/>
            <a:ext cx="65633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409" y="2081749"/>
            <a:ext cx="10515600" cy="50029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project, we designed a </a:t>
            </a:r>
            <a:r>
              <a:rPr lang="en-US" b="1" dirty="0"/>
              <a:t>Predictive Student Performance Analytics Dashboard</a:t>
            </a:r>
            <a:r>
              <a:rPr lang="en-US" dirty="0"/>
              <a:t> using advanced </a:t>
            </a:r>
            <a:r>
              <a:rPr lang="en-US" b="1" dirty="0"/>
              <a:t>Big Data</a:t>
            </a:r>
            <a:r>
              <a:rPr lang="en-US" dirty="0"/>
              <a:t> technologies. The system collects high-volume academic records and processes them in a distributed manner using </a:t>
            </a:r>
            <a:r>
              <a:rPr lang="en-US" b="1" dirty="0"/>
              <a:t>Apache Spark</a:t>
            </a:r>
            <a:r>
              <a:rPr lang="en-US" dirty="0"/>
              <a:t> and </a:t>
            </a:r>
            <a:r>
              <a:rPr lang="en-US" b="1" dirty="0"/>
              <a:t>Parquet</a:t>
            </a:r>
            <a:r>
              <a:rPr lang="en-US" dirty="0"/>
              <a:t> storage layers. By integrating high-speed analytical data with </a:t>
            </a:r>
            <a:r>
              <a:rPr lang="en-US" b="1" dirty="0"/>
              <a:t>Machine Learning</a:t>
            </a:r>
            <a:r>
              <a:rPr lang="en-US" dirty="0"/>
              <a:t> predictions, the platform provides real-time insights through interactive dashboards and automated reporting, enabling institutions to perform early student interventions and make proactive, data-driven educational decisions.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952"/>
            <a:ext cx="10515600" cy="5002923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Ahmed, A., et al. (2024)</a:t>
            </a:r>
            <a:r>
              <a:rPr lang="en-IN" dirty="0"/>
              <a:t>. "Students' performance prediction employing Decision Tree."</a:t>
            </a:r>
            <a:br>
              <a:rPr lang="en-IN" dirty="0"/>
            </a:br>
            <a:r>
              <a:rPr lang="en-IN" dirty="0"/>
              <a:t>🔗 </a:t>
            </a:r>
            <a:r>
              <a:rPr lang="en-IN" dirty="0">
                <a:hlinkClick r:id="rId2"/>
              </a:rPr>
              <a:t>View on ResearchGate</a:t>
            </a:r>
            <a:endParaRPr lang="en-IN" dirty="0"/>
          </a:p>
          <a:p>
            <a:r>
              <a:rPr lang="en-IN" b="1" dirty="0"/>
              <a:t>Raut, S. S., &amp; </a:t>
            </a:r>
            <a:r>
              <a:rPr lang="en-IN" b="1" dirty="0" err="1"/>
              <a:t>Nichat</a:t>
            </a:r>
            <a:r>
              <a:rPr lang="en-IN" b="1" dirty="0"/>
              <a:t>, M. K. (2017)</a:t>
            </a:r>
            <a:r>
              <a:rPr lang="en-IN" dirty="0"/>
              <a:t>. "Students Performance Prediction Using Decision Tree Technique."</a:t>
            </a:r>
            <a:br>
              <a:rPr lang="en-IN" dirty="0"/>
            </a:br>
            <a:r>
              <a:rPr lang="en-IN" dirty="0"/>
              <a:t>🔗 </a:t>
            </a:r>
            <a:r>
              <a:rPr lang="en-IN" dirty="0">
                <a:hlinkClick r:id="rId3"/>
              </a:rPr>
              <a:t>View on Semantic Scholar</a:t>
            </a:r>
            <a:endParaRPr lang="en-IN" dirty="0"/>
          </a:p>
          <a:p>
            <a:r>
              <a:rPr lang="en-IN" b="1" dirty="0"/>
              <a:t>Salloum, S., </a:t>
            </a:r>
            <a:r>
              <a:rPr lang="en-IN" b="1" dirty="0" err="1"/>
              <a:t>Dautov</a:t>
            </a:r>
            <a:r>
              <a:rPr lang="en-IN" b="1" dirty="0"/>
              <a:t>, R., &amp; Huang, J. (2016)</a:t>
            </a:r>
            <a:r>
              <a:rPr lang="en-IN" dirty="0"/>
              <a:t>. "Big data analytics on Apache Spark."</a:t>
            </a:r>
            <a:br>
              <a:rPr lang="en-IN" dirty="0"/>
            </a:br>
            <a:r>
              <a:rPr lang="en-IN" dirty="0"/>
              <a:t>🔗 </a:t>
            </a:r>
            <a:r>
              <a:rPr lang="en-IN" dirty="0">
                <a:hlinkClick r:id="rId4"/>
              </a:rPr>
              <a:t>View on Springer/Semantic Scholar</a:t>
            </a:r>
            <a:endParaRPr lang="en-IN" dirty="0"/>
          </a:p>
          <a:p>
            <a:r>
              <a:rPr lang="en-IN" b="1" dirty="0"/>
              <a:t>MECS Press (2015)</a:t>
            </a:r>
            <a:r>
              <a:rPr lang="en-IN" dirty="0"/>
              <a:t>. "A Decision Tree Approach for Predicting Students Academic Performance."</a:t>
            </a:r>
            <a:br>
              <a:rPr lang="en-IN" dirty="0"/>
            </a:br>
            <a:r>
              <a:rPr lang="en-IN" dirty="0"/>
              <a:t>🔗 </a:t>
            </a:r>
            <a:r>
              <a:rPr lang="en-IN" dirty="0">
                <a:hlinkClick r:id="rId5"/>
              </a:rPr>
              <a:t>View Full PDF (Direct)</a:t>
            </a:r>
            <a:endParaRPr lang="en-IN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26-02-2026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–1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26-02-2026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1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982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Big Data Technologies REVIEW – 1  Real-Time E-Commerce User Analytics and Recommendation System</vt:lpstr>
      <vt:lpstr>OUTLINE</vt:lpstr>
      <vt:lpstr>                           Abstract</vt:lpstr>
      <vt:lpstr>Introduction</vt:lpstr>
      <vt:lpstr>Objectives </vt:lpstr>
      <vt:lpstr>Proposed Method</vt:lpstr>
      <vt:lpstr>PowerPoint Presentation</vt:lpstr>
      <vt:lpstr>Literature Survey</vt:lpstr>
      <vt:lpstr>Implementation</vt:lpstr>
      <vt:lpstr>sConclusion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KARTHIKEYA SOMISETTY</dc:creator>
  <cp:lastModifiedBy>chinna ummadising</cp:lastModifiedBy>
  <cp:revision>10</cp:revision>
  <dcterms:modified xsi:type="dcterms:W3CDTF">2026-02-26T04:21:42Z</dcterms:modified>
</cp:coreProperties>
</file>